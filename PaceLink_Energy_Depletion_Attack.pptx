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Introduce the project as a security-focused implementation: a hospital + patient app system whose core contribution is isolating the implanted pacemaker from direct network exposure to defend against energy depletion attacks.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Four-part agenda. Keep this brief — under a minute — and reference it verbally when transitioning between the threat-model half and the system half of the talk.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the attack class in general terms before narrowing to pacemakers specifically. The Halperin et al. 2008 citation gives this academic grounding without needing to fabricate statistics.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attack mechanics, then a consequences strip. Emphasize that the attacker never needs to defeat the pacing algorithm or any cryptography — simply keeping the radio busy is enough.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problem statement slide: name the vulnerability precisely as 'no isolation boundary between the implant and anything that can reach its link', which sets up the next slide's thesis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thesis slide. 'Isolate' is the operative word: we are not primarily relying on encryption or authentication at the implant — we are minimizing the time window during which the implant is reachable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left to right: hospital app queues a prescribed voltage on the server; the phone is the only thing that ever bridges the server and the implant, and only briefly. The tech-stack strip below grounds the diagram in what was actually built.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queue: a doctor's prescription does not go straight to the implant. It waits as a pending VoltageChange until the patient's own phone is the one to deliver it during a sync.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mechanical core of the defense. Point out PacemakerLink as an abstraction: the same four calls (connect/writeVoltage/readHeartRates/disconnect) are implemented three ways — network (HTTP demo), ble (react-native-ble-plx, real GATT), and simulated — so swapping to real hardware is a one-line config change, not a rewrite.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answers 'so what' — each row pairs an attack mechanic from slide 4 with the specific mechanism (from slide 9) that closes it. This is the strongest evaluative slide in the deck; spend real time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supporting safeguards, not the headline defense — make clear isolation (previous slides) is the primary mitigation, and this slide is what protects the parts of the system that remain online (server, apps).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evaluator will ask about at least one of these unprompted — naming them first shows the isolation model is understood as a mitigation, not a silver bullet.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Order roughly by how directly each extends the current isolation architecture versus adding a new layer on top of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Invite questions specifically about the sync protocol timing and the threat model — those are the two areas most likely to get probing follow-ups.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822960" y="4892040"/>
            <a:ext cx="1005840" cy="914"/>
          </a:xfrm>
          <a:prstGeom prst="line">
            <a:avLst/>
          </a:prstGeom>
          <a:noFill/>
          <a:ln w="19050">
            <a:solidFill>
              <a:srgbClr val="27345E"/>
            </a:solidFill>
            <a:prstDash val="solid"/>
          </a:ln>
        </p:spPr>
      </p:sp>
      <p:sp>
        <p:nvSpPr>
          <p:cNvPr id="3" name="Shape 1"/>
          <p:cNvSpPr/>
          <p:nvPr/>
        </p:nvSpPr>
        <p:spPr>
          <a:xfrm flipV="1">
            <a:off x="1828800" y="4741164"/>
            <a:ext cx="320040" cy="150876"/>
          </a:xfrm>
          <a:prstGeom prst="line">
            <a:avLst/>
          </a:prstGeom>
          <a:noFill/>
          <a:ln w="19050">
            <a:solidFill>
              <a:srgbClr val="27345E"/>
            </a:solidFill>
            <a:prstDash val="solid"/>
          </a:ln>
        </p:spPr>
      </p:sp>
      <p:sp>
        <p:nvSpPr>
          <p:cNvPr id="4" name="Shape 2"/>
          <p:cNvSpPr/>
          <p:nvPr/>
        </p:nvSpPr>
        <p:spPr>
          <a:xfrm>
            <a:off x="2148840" y="4741164"/>
            <a:ext cx="228600" cy="955548"/>
          </a:xfrm>
          <a:prstGeom prst="line">
            <a:avLst/>
          </a:prstGeom>
          <a:noFill/>
          <a:ln w="19050">
            <a:solidFill>
              <a:srgbClr val="27345E"/>
            </a:solidFill>
            <a:prstDash val="solid"/>
          </a:ln>
        </p:spPr>
      </p:sp>
      <p:sp>
        <p:nvSpPr>
          <p:cNvPr id="5" name="Shape 3"/>
          <p:cNvSpPr/>
          <p:nvPr/>
        </p:nvSpPr>
        <p:spPr>
          <a:xfrm flipV="1">
            <a:off x="2377440" y="3785616"/>
            <a:ext cx="228600" cy="1911096"/>
          </a:xfrm>
          <a:prstGeom prst="line">
            <a:avLst/>
          </a:prstGeom>
          <a:noFill/>
          <a:ln w="19050">
            <a:solidFill>
              <a:srgbClr val="27345E"/>
            </a:solidFill>
            <a:prstDash val="solid"/>
          </a:ln>
        </p:spPr>
      </p:sp>
      <p:sp>
        <p:nvSpPr>
          <p:cNvPr id="6" name="Shape 4"/>
          <p:cNvSpPr/>
          <p:nvPr/>
        </p:nvSpPr>
        <p:spPr>
          <a:xfrm>
            <a:off x="2606040" y="3785616"/>
            <a:ext cx="228600" cy="1357884"/>
          </a:xfrm>
          <a:prstGeom prst="line">
            <a:avLst/>
          </a:prstGeom>
          <a:noFill/>
          <a:ln w="19050">
            <a:solidFill>
              <a:srgbClr val="27345E"/>
            </a:solidFill>
            <a:prstDash val="solid"/>
          </a:ln>
        </p:spPr>
      </p:sp>
      <p:sp>
        <p:nvSpPr>
          <p:cNvPr id="7" name="Shape 5"/>
          <p:cNvSpPr/>
          <p:nvPr/>
        </p:nvSpPr>
        <p:spPr>
          <a:xfrm flipV="1">
            <a:off x="2834640" y="4892040"/>
            <a:ext cx="274320" cy="251460"/>
          </a:xfrm>
          <a:prstGeom prst="line">
            <a:avLst/>
          </a:prstGeom>
          <a:noFill/>
          <a:ln w="19050">
            <a:solidFill>
              <a:srgbClr val="27345E"/>
            </a:solidFill>
            <a:prstDash val="solid"/>
          </a:ln>
        </p:spPr>
      </p:sp>
      <p:sp>
        <p:nvSpPr>
          <p:cNvPr id="8" name="Shape 6"/>
          <p:cNvSpPr/>
          <p:nvPr/>
        </p:nvSpPr>
        <p:spPr>
          <a:xfrm>
            <a:off x="3108960" y="4892040"/>
            <a:ext cx="1645920" cy="914"/>
          </a:xfrm>
          <a:prstGeom prst="line">
            <a:avLst/>
          </a:prstGeom>
          <a:noFill/>
          <a:ln w="19050">
            <a:solidFill>
              <a:srgbClr val="27345E"/>
            </a:solidFill>
            <a:prstDash val="solid"/>
          </a:ln>
        </p:spPr>
      </p:sp>
      <p:sp>
        <p:nvSpPr>
          <p:cNvPr id="9" name="Shape 7"/>
          <p:cNvSpPr/>
          <p:nvPr/>
        </p:nvSpPr>
        <p:spPr>
          <a:xfrm flipV="1">
            <a:off x="4754880" y="4741164"/>
            <a:ext cx="320040" cy="150876"/>
          </a:xfrm>
          <a:prstGeom prst="line">
            <a:avLst/>
          </a:prstGeom>
          <a:noFill/>
          <a:ln w="19050">
            <a:solidFill>
              <a:srgbClr val="27345E"/>
            </a:solidFill>
            <a:prstDash val="solid"/>
          </a:ln>
        </p:spPr>
      </p:sp>
      <p:sp>
        <p:nvSpPr>
          <p:cNvPr id="10" name="Shape 8"/>
          <p:cNvSpPr/>
          <p:nvPr/>
        </p:nvSpPr>
        <p:spPr>
          <a:xfrm>
            <a:off x="5074920" y="4741164"/>
            <a:ext cx="228600" cy="955548"/>
          </a:xfrm>
          <a:prstGeom prst="line">
            <a:avLst/>
          </a:prstGeom>
          <a:noFill/>
          <a:ln w="19050">
            <a:solidFill>
              <a:srgbClr val="27345E"/>
            </a:solidFill>
            <a:prstDash val="solid"/>
          </a:ln>
        </p:spPr>
      </p:sp>
      <p:sp>
        <p:nvSpPr>
          <p:cNvPr id="11" name="Shape 9"/>
          <p:cNvSpPr/>
          <p:nvPr/>
        </p:nvSpPr>
        <p:spPr>
          <a:xfrm flipV="1">
            <a:off x="5303520" y="3785616"/>
            <a:ext cx="228600" cy="1911096"/>
          </a:xfrm>
          <a:prstGeom prst="line">
            <a:avLst/>
          </a:prstGeom>
          <a:noFill/>
          <a:ln w="19050">
            <a:solidFill>
              <a:srgbClr val="27345E"/>
            </a:solidFill>
            <a:prstDash val="solid"/>
          </a:ln>
        </p:spPr>
      </p:sp>
      <p:sp>
        <p:nvSpPr>
          <p:cNvPr id="12" name="Shape 10"/>
          <p:cNvSpPr/>
          <p:nvPr/>
        </p:nvSpPr>
        <p:spPr>
          <a:xfrm>
            <a:off x="5532120" y="3785616"/>
            <a:ext cx="228600" cy="1357884"/>
          </a:xfrm>
          <a:prstGeom prst="line">
            <a:avLst/>
          </a:prstGeom>
          <a:noFill/>
          <a:ln w="19050">
            <a:solidFill>
              <a:srgbClr val="27345E"/>
            </a:solidFill>
            <a:prstDash val="solid"/>
          </a:ln>
        </p:spPr>
      </p:sp>
      <p:sp>
        <p:nvSpPr>
          <p:cNvPr id="13" name="Shape 11"/>
          <p:cNvSpPr/>
          <p:nvPr/>
        </p:nvSpPr>
        <p:spPr>
          <a:xfrm flipV="1">
            <a:off x="5760720" y="4892040"/>
            <a:ext cx="274320" cy="251460"/>
          </a:xfrm>
          <a:prstGeom prst="line">
            <a:avLst/>
          </a:prstGeom>
          <a:noFill/>
          <a:ln w="19050">
            <a:solidFill>
              <a:srgbClr val="27345E"/>
            </a:solidFill>
            <a:prstDash val="solid"/>
          </a:ln>
        </p:spPr>
      </p:sp>
      <p:sp>
        <p:nvSpPr>
          <p:cNvPr id="14" name="Shape 12"/>
          <p:cNvSpPr/>
          <p:nvPr/>
        </p:nvSpPr>
        <p:spPr>
          <a:xfrm>
            <a:off x="6035040" y="4892040"/>
            <a:ext cx="5303520" cy="914"/>
          </a:xfrm>
          <a:prstGeom prst="line">
            <a:avLst/>
          </a:prstGeom>
          <a:noFill/>
          <a:ln w="19050">
            <a:solidFill>
              <a:srgbClr val="27345E"/>
            </a:solidFill>
            <a:prstDash val="solid"/>
          </a:ln>
        </p:spPr>
      </p:sp>
      <p:sp>
        <p:nvSpPr>
          <p:cNvPr id="15" name="Shape 13"/>
          <p:cNvSpPr/>
          <p:nvPr/>
        </p:nvSpPr>
        <p:spPr>
          <a:xfrm>
            <a:off x="822960" y="914400"/>
            <a:ext cx="777240" cy="777240"/>
          </a:xfrm>
          <a:prstGeom prst="ellipse">
            <a:avLst/>
          </a:prstGeom>
          <a:solidFill>
            <a:srgbClr val="141F3D"/>
          </a:solidFill>
          <a:ln/>
        </p:spPr>
      </p:sp>
      <p:sp>
        <p:nvSpPr>
          <p:cNvPr id="16" name="Shape 14"/>
          <p:cNvSpPr/>
          <p:nvPr/>
        </p:nvSpPr>
        <p:spPr>
          <a:xfrm>
            <a:off x="1009498" y="1100938"/>
            <a:ext cx="404165" cy="404165"/>
          </a:xfrm>
          <a:prstGeom prst="heart">
            <a:avLst/>
          </a:prstGeom>
          <a:solidFill>
            <a:srgbClr val="FF4D5E"/>
          </a:solidFill>
          <a:ln/>
        </p:spPr>
      </p:sp>
      <p:sp>
        <p:nvSpPr>
          <p:cNvPr id="17" name="Text 15"/>
          <p:cNvSpPr/>
          <p:nvPr/>
        </p:nvSpPr>
        <p:spPr>
          <a:xfrm>
            <a:off x="822960" y="1874520"/>
            <a:ext cx="9144000" cy="292608"/>
          </a:xfrm>
          <a:prstGeom prst="rect">
            <a:avLst/>
          </a:prstGeom>
          <a:noFill/>
          <a:ln/>
        </p:spPr>
        <p:txBody>
          <a:bodyPr wrap="square" lIns="0" tIns="0" rIns="0" bIns="0" rtlCol="0" anchor="ctr"/>
          <a:lstStyle/>
          <a:p>
            <a:pPr algn="l" indent="0" marL="0">
              <a:buNone/>
            </a:pPr>
            <a:r>
              <a:rPr lang="en-US" sz="1200" b="1" spc="300" kern="0" dirty="0">
                <a:solidFill>
                  <a:srgbClr val="C3C8FC"/>
                </a:solidFill>
                <a:latin typeface="Calibri" pitchFamily="34" charset="0"/>
                <a:ea typeface="Calibri" pitchFamily="34" charset="-122"/>
                <a:cs typeface="Calibri" pitchFamily="34" charset="-120"/>
              </a:rPr>
              <a:t>ACADEMIC PROJECT PRESENTATION • PACELINK</a:t>
            </a:r>
            <a:endParaRPr lang="en-US" sz="1200" dirty="0"/>
          </a:p>
        </p:txBody>
      </p:sp>
      <p:sp>
        <p:nvSpPr>
          <p:cNvPr id="18" name="Text 16"/>
          <p:cNvSpPr/>
          <p:nvPr/>
        </p:nvSpPr>
        <p:spPr>
          <a:xfrm>
            <a:off x="777240" y="2194560"/>
            <a:ext cx="10607040" cy="1737360"/>
          </a:xfrm>
          <a:prstGeom prst="rect">
            <a:avLst/>
          </a:prstGeom>
          <a:noFill/>
          <a:ln/>
        </p:spPr>
        <p:txBody>
          <a:bodyPr wrap="square" lIns="0" tIns="0" rIns="0" bIns="0" rtlCol="0" anchor="ctr"/>
          <a:lstStyle/>
          <a:p>
            <a:pPr algn="l" indent="0" marL="0">
              <a:lnSpc>
                <a:spcPct val="105000"/>
              </a:lnSpc>
              <a:buNone/>
            </a:pPr>
            <a:r>
              <a:rPr lang="en-US" sz="4400" b="1" dirty="0">
                <a:solidFill>
                  <a:srgbClr val="F5F6FC"/>
                </a:solidFill>
                <a:latin typeface="Cambria" pitchFamily="34" charset="0"/>
                <a:ea typeface="Cambria" pitchFamily="34" charset="-122"/>
                <a:cs typeface="Cambria" pitchFamily="34" charset="-120"/>
              </a:rPr>
              <a:t>Energy Depletion Attacks</a:t>
            </a:r>
            <a:endParaRPr lang="en-US" sz="4400" dirty="0"/>
          </a:p>
          <a:p>
            <a:pPr algn="l" indent="0" marL="0">
              <a:lnSpc>
                <a:spcPct val="105000"/>
              </a:lnSpc>
              <a:buNone/>
            </a:pPr>
            <a:r>
              <a:rPr lang="en-US" sz="4400" b="1" dirty="0">
                <a:solidFill>
                  <a:srgbClr val="F5F6FC"/>
                </a:solidFill>
                <a:latin typeface="Cambria" pitchFamily="34" charset="0"/>
                <a:ea typeface="Cambria" pitchFamily="34" charset="-122"/>
                <a:cs typeface="Cambria" pitchFamily="34" charset="-120"/>
              </a:rPr>
              <a:t>on Cardiac Pacemakers</a:t>
            </a:r>
            <a:endParaRPr lang="en-US" sz="4400" dirty="0"/>
          </a:p>
        </p:txBody>
      </p:sp>
      <p:sp>
        <p:nvSpPr>
          <p:cNvPr id="19" name="Text 17"/>
          <p:cNvSpPr/>
          <p:nvPr/>
        </p:nvSpPr>
        <p:spPr>
          <a:xfrm>
            <a:off x="822960" y="3886200"/>
            <a:ext cx="8686800" cy="822960"/>
          </a:xfrm>
          <a:prstGeom prst="rect">
            <a:avLst/>
          </a:prstGeom>
          <a:noFill/>
          <a:ln/>
        </p:spPr>
        <p:txBody>
          <a:bodyPr wrap="square" lIns="0" tIns="0" rIns="0" bIns="0" rtlCol="0" anchor="ctr"/>
          <a:lstStyle/>
          <a:p>
            <a:pPr algn="l" indent="0" marL="0">
              <a:lnSpc>
                <a:spcPct val="130000"/>
              </a:lnSpc>
              <a:buNone/>
            </a:pPr>
            <a:r>
              <a:rPr lang="en-US" sz="1600" dirty="0">
                <a:solidFill>
                  <a:srgbClr val="9AA3C7"/>
                </a:solidFill>
                <a:latin typeface="Calibri" pitchFamily="34" charset="0"/>
                <a:ea typeface="Calibri" pitchFamily="34" charset="-122"/>
                <a:cs typeface="Calibri" pitchFamily="34" charset="-120"/>
              </a:rPr>
              <a:t>A server-mediated isolation architecture that keeps the implant</a:t>
            </a:r>
            <a:endParaRPr lang="en-US" sz="1600" dirty="0"/>
          </a:p>
          <a:p>
            <a:pPr algn="l" indent="0" marL="0">
              <a:lnSpc>
                <a:spcPct val="130000"/>
              </a:lnSpc>
              <a:buNone/>
            </a:pPr>
            <a:r>
              <a:rPr lang="en-US" sz="1600" dirty="0">
                <a:solidFill>
                  <a:srgbClr val="9AA3C7"/>
                </a:solidFill>
                <a:latin typeface="Calibri" pitchFamily="34" charset="0"/>
                <a:ea typeface="Calibri" pitchFamily="34" charset="-122"/>
                <a:cs typeface="Calibri" pitchFamily="34" charset="-120"/>
              </a:rPr>
              <a:t>unreachable by anything except a brief, scheduled sync.</a:t>
            </a:r>
            <a:endParaRPr lang="en-US" sz="1600" dirty="0"/>
          </a:p>
        </p:txBody>
      </p:sp>
      <p:sp>
        <p:nvSpPr>
          <p:cNvPr id="20" name="Shape 18"/>
          <p:cNvSpPr/>
          <p:nvPr/>
        </p:nvSpPr>
        <p:spPr>
          <a:xfrm>
            <a:off x="822960" y="5806440"/>
            <a:ext cx="3749040" cy="457200"/>
          </a:xfrm>
          <a:prstGeom prst="roundRect">
            <a:avLst>
              <a:gd name="adj" fmla="val 16000"/>
            </a:avLst>
          </a:prstGeom>
          <a:solidFill>
            <a:srgbClr val="141F3D"/>
          </a:solidFill>
          <a:ln/>
        </p:spPr>
      </p:sp>
      <p:sp>
        <p:nvSpPr>
          <p:cNvPr id="21" name="Text 19"/>
          <p:cNvSpPr/>
          <p:nvPr/>
        </p:nvSpPr>
        <p:spPr>
          <a:xfrm>
            <a:off x="960120" y="5806440"/>
            <a:ext cx="3566160" cy="457200"/>
          </a:xfrm>
          <a:prstGeom prst="rect">
            <a:avLst/>
          </a:prstGeom>
          <a:noFill/>
          <a:ln/>
        </p:spPr>
        <p:txBody>
          <a:bodyPr wrap="square" lIns="0" tIns="0" rIns="0" bIns="0" rtlCol="0" anchor="ctr"/>
          <a:lstStyle/>
          <a:p>
            <a:pPr algn="l" indent="0" marL="0">
              <a:buNone/>
            </a:pPr>
            <a:r>
              <a:rPr lang="en-US" sz="1100" dirty="0">
                <a:solidFill>
                  <a:srgbClr val="C3C8FC"/>
                </a:solidFill>
                <a:latin typeface="Calibri" pitchFamily="34" charset="0"/>
                <a:ea typeface="Calibri" pitchFamily="34" charset="-122"/>
                <a:cs typeface="Calibri" pitchFamily="34" charset="-120"/>
              </a:rPr>
              <a:t>Hospital App  •  Patient Mobile App  •  Isolated Pacemaker Link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0A1224"/>
          </a:solidFill>
          <a:ln/>
        </p:spPr>
      </p:sp>
      <p:sp>
        <p:nvSpPr>
          <p:cNvPr id="3" name="Shape 1"/>
          <p:cNvSpPr/>
          <p:nvPr/>
        </p:nvSpPr>
        <p:spPr>
          <a:xfrm>
            <a:off x="781812" y="662940"/>
            <a:ext cx="283464" cy="283464"/>
          </a:xfrm>
          <a:prstGeom prst="flowChartTerminator">
            <a:avLst/>
          </a:prstGeom>
          <a:solidFill>
            <a:srgbClr val="C3C8FC"/>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OVERVIEW</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What We'll Cover</a:t>
            </a:r>
            <a:endParaRPr lang="en-US" sz="3000" dirty="0"/>
          </a:p>
        </p:txBody>
      </p:sp>
      <p:sp>
        <p:nvSpPr>
          <p:cNvPr id="6" name="Shape 4"/>
          <p:cNvSpPr/>
          <p:nvPr/>
        </p:nvSpPr>
        <p:spPr>
          <a:xfrm>
            <a:off x="640080" y="173736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7" name="Text 5"/>
          <p:cNvSpPr/>
          <p:nvPr/>
        </p:nvSpPr>
        <p:spPr>
          <a:xfrm>
            <a:off x="914400" y="1993392"/>
            <a:ext cx="822960" cy="548640"/>
          </a:xfrm>
          <a:prstGeom prst="rect">
            <a:avLst/>
          </a:prstGeom>
          <a:noFill/>
          <a:ln/>
        </p:spPr>
        <p:txBody>
          <a:bodyPr wrap="square" lIns="0" tIns="0" rIns="0" bIns="0" rtlCol="0" anchor="ctr"/>
          <a:lstStyle/>
          <a:p>
            <a:pPr indent="0" marL="0">
              <a:buNone/>
            </a:pPr>
            <a:r>
              <a:rPr lang="en-US" sz="3000" b="1" dirty="0">
                <a:solidFill>
                  <a:srgbClr val="D8DBEF"/>
                </a:solidFill>
                <a:latin typeface="Cambria" pitchFamily="34" charset="0"/>
                <a:ea typeface="Cambria" pitchFamily="34" charset="-122"/>
                <a:cs typeface="Cambria" pitchFamily="34" charset="-120"/>
              </a:rPr>
              <a:t>01</a:t>
            </a:r>
            <a:endParaRPr lang="en-US" sz="3000" dirty="0"/>
          </a:p>
        </p:txBody>
      </p:sp>
      <p:sp>
        <p:nvSpPr>
          <p:cNvPr id="8" name="Shape 6"/>
          <p:cNvSpPr/>
          <p:nvPr/>
        </p:nvSpPr>
        <p:spPr>
          <a:xfrm>
            <a:off x="4983480" y="2011680"/>
            <a:ext cx="548640" cy="548640"/>
          </a:xfrm>
          <a:prstGeom prst="ellipse">
            <a:avLst/>
          </a:prstGeom>
          <a:solidFill>
            <a:srgbClr val="FDEBEC"/>
          </a:solidFill>
          <a:ln/>
        </p:spPr>
      </p:sp>
      <p:sp>
        <p:nvSpPr>
          <p:cNvPr id="9" name="Shape 7"/>
          <p:cNvSpPr/>
          <p:nvPr/>
        </p:nvSpPr>
        <p:spPr>
          <a:xfrm>
            <a:off x="5115154" y="2143354"/>
            <a:ext cx="285293" cy="285293"/>
          </a:xfrm>
          <a:prstGeom prst="lightningBolt">
            <a:avLst/>
          </a:prstGeom>
          <a:solidFill>
            <a:srgbClr val="FF4D5E"/>
          </a:solidFill>
          <a:ln/>
        </p:spPr>
      </p:sp>
      <p:sp>
        <p:nvSpPr>
          <p:cNvPr id="10" name="Text 8"/>
          <p:cNvSpPr/>
          <p:nvPr/>
        </p:nvSpPr>
        <p:spPr>
          <a:xfrm>
            <a:off x="914400" y="2633472"/>
            <a:ext cx="4663440" cy="411480"/>
          </a:xfrm>
          <a:prstGeom prst="rect">
            <a:avLst/>
          </a:prstGeom>
          <a:noFill/>
          <a:ln/>
        </p:spPr>
        <p:txBody>
          <a:bodyPr wrap="square" lIns="0" tIns="0" rIns="0" bIns="0" rtlCol="0" anchor="ctr"/>
          <a:lstStyle/>
          <a:p>
            <a:pPr indent="0" marL="0">
              <a:buNone/>
            </a:pPr>
            <a:r>
              <a:rPr lang="en-US" sz="1700" b="1" dirty="0">
                <a:solidFill>
                  <a:srgbClr val="121826"/>
                </a:solidFill>
                <a:latin typeface="Cambria" pitchFamily="34" charset="0"/>
                <a:ea typeface="Cambria" pitchFamily="34" charset="-122"/>
                <a:cs typeface="Cambria" pitchFamily="34" charset="-120"/>
              </a:rPr>
              <a:t>The Threat</a:t>
            </a:r>
            <a:endParaRPr lang="en-US" sz="1700" dirty="0"/>
          </a:p>
        </p:txBody>
      </p:sp>
      <p:sp>
        <p:nvSpPr>
          <p:cNvPr id="11" name="Text 9"/>
          <p:cNvSpPr/>
          <p:nvPr/>
        </p:nvSpPr>
        <p:spPr>
          <a:xfrm>
            <a:off x="914400" y="3035808"/>
            <a:ext cx="4663440" cy="640080"/>
          </a:xfrm>
          <a:prstGeom prst="rect">
            <a:avLst/>
          </a:prstGeom>
          <a:noFill/>
          <a:ln/>
        </p:spPr>
        <p:txBody>
          <a:bodyPr wrap="square" lIns="0" tIns="0" rIns="0" bIns="0" rtlCol="0" anchor="ctr"/>
          <a:lstStyle/>
          <a:p>
            <a:pPr indent="0" marL="0">
              <a:lnSpc>
                <a:spcPct val="130000"/>
              </a:lnSpc>
              <a:buNone/>
            </a:pPr>
            <a:r>
              <a:rPr lang="en-US" sz="1200" dirty="0">
                <a:solidFill>
                  <a:srgbClr val="5B6478"/>
                </a:solidFill>
                <a:latin typeface="Calibri" pitchFamily="34" charset="0"/>
                <a:ea typeface="Calibri" pitchFamily="34" charset="-122"/>
                <a:cs typeface="Calibri" pitchFamily="34" charset="-120"/>
              </a:rPr>
              <a:t>What an energy depletion attack is, and why implants are uniquely exposed to it.</a:t>
            </a:r>
            <a:endParaRPr lang="en-US" sz="1200" dirty="0"/>
          </a:p>
        </p:txBody>
      </p:sp>
      <p:sp>
        <p:nvSpPr>
          <p:cNvPr id="12" name="Shape 10"/>
          <p:cNvSpPr/>
          <p:nvPr/>
        </p:nvSpPr>
        <p:spPr>
          <a:xfrm>
            <a:off x="6172200" y="173736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13" name="Text 11"/>
          <p:cNvSpPr/>
          <p:nvPr/>
        </p:nvSpPr>
        <p:spPr>
          <a:xfrm>
            <a:off x="6446520" y="1993392"/>
            <a:ext cx="822960" cy="548640"/>
          </a:xfrm>
          <a:prstGeom prst="rect">
            <a:avLst/>
          </a:prstGeom>
          <a:noFill/>
          <a:ln/>
        </p:spPr>
        <p:txBody>
          <a:bodyPr wrap="square" lIns="0" tIns="0" rIns="0" bIns="0" rtlCol="0" anchor="ctr"/>
          <a:lstStyle/>
          <a:p>
            <a:pPr indent="0" marL="0">
              <a:buNone/>
            </a:pPr>
            <a:r>
              <a:rPr lang="en-US" sz="3000" b="1" dirty="0">
                <a:solidFill>
                  <a:srgbClr val="D8DBEF"/>
                </a:solidFill>
                <a:latin typeface="Cambria" pitchFamily="34" charset="0"/>
                <a:ea typeface="Cambria" pitchFamily="34" charset="-122"/>
                <a:cs typeface="Cambria" pitchFamily="34" charset="-120"/>
              </a:rPr>
              <a:t>02</a:t>
            </a:r>
            <a:endParaRPr lang="en-US" sz="3000" dirty="0"/>
          </a:p>
        </p:txBody>
      </p:sp>
      <p:sp>
        <p:nvSpPr>
          <p:cNvPr id="14" name="Shape 12"/>
          <p:cNvSpPr/>
          <p:nvPr/>
        </p:nvSpPr>
        <p:spPr>
          <a:xfrm>
            <a:off x="10515600" y="2011680"/>
            <a:ext cx="548640" cy="548640"/>
          </a:xfrm>
          <a:prstGeom prst="ellipse">
            <a:avLst/>
          </a:prstGeom>
          <a:solidFill>
            <a:srgbClr val="FDEBEC"/>
          </a:solidFill>
          <a:ln/>
        </p:spPr>
      </p:sp>
      <p:sp>
        <p:nvSpPr>
          <p:cNvPr id="15" name="Shape 13"/>
          <p:cNvSpPr/>
          <p:nvPr/>
        </p:nvSpPr>
        <p:spPr>
          <a:xfrm>
            <a:off x="10647274" y="2143354"/>
            <a:ext cx="285293" cy="285293"/>
          </a:xfrm>
          <a:prstGeom prst="wave">
            <a:avLst/>
          </a:prstGeom>
          <a:solidFill>
            <a:srgbClr val="FF4D5E"/>
          </a:solidFill>
          <a:ln/>
        </p:spPr>
      </p:sp>
      <p:sp>
        <p:nvSpPr>
          <p:cNvPr id="16" name="Text 14"/>
          <p:cNvSpPr/>
          <p:nvPr/>
        </p:nvSpPr>
        <p:spPr>
          <a:xfrm>
            <a:off x="6446520" y="2633472"/>
            <a:ext cx="4663440" cy="411480"/>
          </a:xfrm>
          <a:prstGeom prst="rect">
            <a:avLst/>
          </a:prstGeom>
          <a:noFill/>
          <a:ln/>
        </p:spPr>
        <p:txBody>
          <a:bodyPr wrap="square" lIns="0" tIns="0" rIns="0" bIns="0" rtlCol="0" anchor="ctr"/>
          <a:lstStyle/>
          <a:p>
            <a:pPr indent="0" marL="0">
              <a:buNone/>
            </a:pPr>
            <a:r>
              <a:rPr lang="en-US" sz="1700" b="1" dirty="0">
                <a:solidFill>
                  <a:srgbClr val="121826"/>
                </a:solidFill>
                <a:latin typeface="Cambria" pitchFamily="34" charset="0"/>
                <a:ea typeface="Cambria" pitchFamily="34" charset="-122"/>
                <a:cs typeface="Cambria" pitchFamily="34" charset="-120"/>
              </a:rPr>
              <a:t>Attack Mechanics</a:t>
            </a:r>
            <a:endParaRPr lang="en-US" sz="1700" dirty="0"/>
          </a:p>
        </p:txBody>
      </p:sp>
      <p:sp>
        <p:nvSpPr>
          <p:cNvPr id="17" name="Text 15"/>
          <p:cNvSpPr/>
          <p:nvPr/>
        </p:nvSpPr>
        <p:spPr>
          <a:xfrm>
            <a:off x="6446520" y="3035808"/>
            <a:ext cx="4663440" cy="640080"/>
          </a:xfrm>
          <a:prstGeom prst="rect">
            <a:avLst/>
          </a:prstGeom>
          <a:noFill/>
          <a:ln/>
        </p:spPr>
        <p:txBody>
          <a:bodyPr wrap="square" lIns="0" tIns="0" rIns="0" bIns="0" rtlCol="0" anchor="ctr"/>
          <a:lstStyle/>
          <a:p>
            <a:pPr indent="0" marL="0">
              <a:lnSpc>
                <a:spcPct val="130000"/>
              </a:lnSpc>
              <a:buNone/>
            </a:pPr>
            <a:r>
              <a:rPr lang="en-US" sz="1200" dirty="0">
                <a:solidFill>
                  <a:srgbClr val="5B6478"/>
                </a:solidFill>
                <a:latin typeface="Calibri" pitchFamily="34" charset="0"/>
                <a:ea typeface="Calibri" pitchFamily="34" charset="-122"/>
                <a:cs typeface="Calibri" pitchFamily="34" charset="-120"/>
              </a:rPr>
              <a:t>How an attacker forces a pacemaker's radio and pacing circuitry to burn through a fixed battery budget.</a:t>
            </a:r>
            <a:endParaRPr lang="en-US" sz="1200" dirty="0"/>
          </a:p>
        </p:txBody>
      </p:sp>
      <p:sp>
        <p:nvSpPr>
          <p:cNvPr id="18" name="Shape 16"/>
          <p:cNvSpPr/>
          <p:nvPr/>
        </p:nvSpPr>
        <p:spPr>
          <a:xfrm>
            <a:off x="640080" y="420624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19" name="Text 17"/>
          <p:cNvSpPr/>
          <p:nvPr/>
        </p:nvSpPr>
        <p:spPr>
          <a:xfrm>
            <a:off x="914400" y="4462272"/>
            <a:ext cx="822960" cy="548640"/>
          </a:xfrm>
          <a:prstGeom prst="rect">
            <a:avLst/>
          </a:prstGeom>
          <a:noFill/>
          <a:ln/>
        </p:spPr>
        <p:txBody>
          <a:bodyPr wrap="square" lIns="0" tIns="0" rIns="0" bIns="0" rtlCol="0" anchor="ctr"/>
          <a:lstStyle/>
          <a:p>
            <a:pPr indent="0" marL="0">
              <a:buNone/>
            </a:pPr>
            <a:r>
              <a:rPr lang="en-US" sz="3000" b="1" dirty="0">
                <a:solidFill>
                  <a:srgbClr val="D8DBEF"/>
                </a:solidFill>
                <a:latin typeface="Cambria" pitchFamily="34" charset="0"/>
                <a:ea typeface="Cambria" pitchFamily="34" charset="-122"/>
                <a:cs typeface="Cambria" pitchFamily="34" charset="-120"/>
              </a:rPr>
              <a:t>03</a:t>
            </a:r>
            <a:endParaRPr lang="en-US" sz="3000" dirty="0"/>
          </a:p>
        </p:txBody>
      </p:sp>
      <p:sp>
        <p:nvSpPr>
          <p:cNvPr id="20" name="Shape 18"/>
          <p:cNvSpPr/>
          <p:nvPr/>
        </p:nvSpPr>
        <p:spPr>
          <a:xfrm>
            <a:off x="4983480" y="4480560"/>
            <a:ext cx="548640" cy="548640"/>
          </a:xfrm>
          <a:prstGeom prst="ellipse">
            <a:avLst/>
          </a:prstGeom>
          <a:solidFill>
            <a:srgbClr val="E7E9FB"/>
          </a:solidFill>
          <a:ln/>
        </p:spPr>
      </p:sp>
      <p:sp>
        <p:nvSpPr>
          <p:cNvPr id="21" name="Shape 19"/>
          <p:cNvSpPr/>
          <p:nvPr/>
        </p:nvSpPr>
        <p:spPr>
          <a:xfrm>
            <a:off x="5115154" y="4612234"/>
            <a:ext cx="285293" cy="285293"/>
          </a:xfrm>
          <a:prstGeom prst="hexagon">
            <a:avLst/>
          </a:prstGeom>
          <a:solidFill>
            <a:srgbClr val="5C63B8"/>
          </a:solidFill>
          <a:ln/>
        </p:spPr>
      </p:sp>
      <p:sp>
        <p:nvSpPr>
          <p:cNvPr id="22" name="Text 20"/>
          <p:cNvSpPr/>
          <p:nvPr/>
        </p:nvSpPr>
        <p:spPr>
          <a:xfrm>
            <a:off x="914400" y="5102352"/>
            <a:ext cx="4663440" cy="411480"/>
          </a:xfrm>
          <a:prstGeom prst="rect">
            <a:avLst/>
          </a:prstGeom>
          <a:noFill/>
          <a:ln/>
        </p:spPr>
        <p:txBody>
          <a:bodyPr wrap="square" lIns="0" tIns="0" rIns="0" bIns="0" rtlCol="0" anchor="ctr"/>
          <a:lstStyle/>
          <a:p>
            <a:pPr indent="0" marL="0">
              <a:buNone/>
            </a:pPr>
            <a:r>
              <a:rPr lang="en-US" sz="1700" b="1" dirty="0">
                <a:solidFill>
                  <a:srgbClr val="121826"/>
                </a:solidFill>
                <a:latin typeface="Cambria" pitchFamily="34" charset="0"/>
                <a:ea typeface="Cambria" pitchFamily="34" charset="-122"/>
                <a:cs typeface="Cambria" pitchFamily="34" charset="-120"/>
              </a:rPr>
              <a:t>Our System</a:t>
            </a:r>
            <a:endParaRPr lang="en-US" sz="1700" dirty="0"/>
          </a:p>
        </p:txBody>
      </p:sp>
      <p:sp>
        <p:nvSpPr>
          <p:cNvPr id="23" name="Text 21"/>
          <p:cNvSpPr/>
          <p:nvPr/>
        </p:nvSpPr>
        <p:spPr>
          <a:xfrm>
            <a:off x="914400" y="5504688"/>
            <a:ext cx="4663440" cy="640080"/>
          </a:xfrm>
          <a:prstGeom prst="rect">
            <a:avLst/>
          </a:prstGeom>
          <a:noFill/>
          <a:ln/>
        </p:spPr>
        <p:txBody>
          <a:bodyPr wrap="square" lIns="0" tIns="0" rIns="0" bIns="0" rtlCol="0" anchor="ctr"/>
          <a:lstStyle/>
          <a:p>
            <a:pPr indent="0" marL="0">
              <a:lnSpc>
                <a:spcPct val="130000"/>
              </a:lnSpc>
              <a:buNone/>
            </a:pPr>
            <a:r>
              <a:rPr lang="en-US" sz="1200" dirty="0">
                <a:solidFill>
                  <a:srgbClr val="5B6478"/>
                </a:solidFill>
                <a:latin typeface="Calibri" pitchFamily="34" charset="0"/>
                <a:ea typeface="Calibri" pitchFamily="34" charset="-122"/>
                <a:cs typeface="Calibri" pitchFamily="34" charset="-120"/>
              </a:rPr>
              <a:t>A hospital app and patient mobile app that never let the implant be directly reachable.</a:t>
            </a:r>
            <a:endParaRPr lang="en-US" sz="1200" dirty="0"/>
          </a:p>
        </p:txBody>
      </p:sp>
      <p:sp>
        <p:nvSpPr>
          <p:cNvPr id="24" name="Shape 22"/>
          <p:cNvSpPr/>
          <p:nvPr/>
        </p:nvSpPr>
        <p:spPr>
          <a:xfrm>
            <a:off x="6172200" y="420624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25" name="Text 23"/>
          <p:cNvSpPr/>
          <p:nvPr/>
        </p:nvSpPr>
        <p:spPr>
          <a:xfrm>
            <a:off x="6446520" y="4462272"/>
            <a:ext cx="822960" cy="548640"/>
          </a:xfrm>
          <a:prstGeom prst="rect">
            <a:avLst/>
          </a:prstGeom>
          <a:noFill/>
          <a:ln/>
        </p:spPr>
        <p:txBody>
          <a:bodyPr wrap="square" lIns="0" tIns="0" rIns="0" bIns="0" rtlCol="0" anchor="ctr"/>
          <a:lstStyle/>
          <a:p>
            <a:pPr indent="0" marL="0">
              <a:buNone/>
            </a:pPr>
            <a:r>
              <a:rPr lang="en-US" sz="3000" b="1" dirty="0">
                <a:solidFill>
                  <a:srgbClr val="D8DBEF"/>
                </a:solidFill>
                <a:latin typeface="Cambria" pitchFamily="34" charset="0"/>
                <a:ea typeface="Cambria" pitchFamily="34" charset="-122"/>
                <a:cs typeface="Cambria" pitchFamily="34" charset="-120"/>
              </a:rPr>
              <a:t>04</a:t>
            </a:r>
            <a:endParaRPr lang="en-US" sz="3000" dirty="0"/>
          </a:p>
        </p:txBody>
      </p:sp>
      <p:sp>
        <p:nvSpPr>
          <p:cNvPr id="26" name="Shape 24"/>
          <p:cNvSpPr/>
          <p:nvPr/>
        </p:nvSpPr>
        <p:spPr>
          <a:xfrm>
            <a:off x="10515600" y="4480560"/>
            <a:ext cx="548640" cy="548640"/>
          </a:xfrm>
          <a:prstGeom prst="ellipse">
            <a:avLst/>
          </a:prstGeom>
          <a:solidFill>
            <a:srgbClr val="E7E9FB"/>
          </a:solidFill>
          <a:ln/>
        </p:spPr>
      </p:sp>
      <p:sp>
        <p:nvSpPr>
          <p:cNvPr id="27" name="Shape 25"/>
          <p:cNvSpPr/>
          <p:nvPr/>
        </p:nvSpPr>
        <p:spPr>
          <a:xfrm>
            <a:off x="10647274" y="4612234"/>
            <a:ext cx="285293" cy="285293"/>
          </a:xfrm>
          <a:prstGeom prst="gear6">
            <a:avLst/>
          </a:prstGeom>
          <a:solidFill>
            <a:srgbClr val="5C63B8"/>
          </a:solidFill>
          <a:ln/>
        </p:spPr>
      </p:sp>
      <p:sp>
        <p:nvSpPr>
          <p:cNvPr id="28" name="Text 26"/>
          <p:cNvSpPr/>
          <p:nvPr/>
        </p:nvSpPr>
        <p:spPr>
          <a:xfrm>
            <a:off x="6446520" y="5102352"/>
            <a:ext cx="4663440" cy="411480"/>
          </a:xfrm>
          <a:prstGeom prst="rect">
            <a:avLst/>
          </a:prstGeom>
          <a:noFill/>
          <a:ln/>
        </p:spPr>
        <p:txBody>
          <a:bodyPr wrap="square" lIns="0" tIns="0" rIns="0" bIns="0" rtlCol="0" anchor="ctr"/>
          <a:lstStyle/>
          <a:p>
            <a:pPr indent="0" marL="0">
              <a:buNone/>
            </a:pPr>
            <a:r>
              <a:rPr lang="en-US" sz="1700" b="1" dirty="0">
                <a:solidFill>
                  <a:srgbClr val="121826"/>
                </a:solidFill>
                <a:latin typeface="Cambria" pitchFamily="34" charset="0"/>
                <a:ea typeface="Cambria" pitchFamily="34" charset="-122"/>
                <a:cs typeface="Cambria" pitchFamily="34" charset="-120"/>
              </a:rPr>
              <a:t>Architecture &amp; Defense</a:t>
            </a:r>
            <a:endParaRPr lang="en-US" sz="1700" dirty="0"/>
          </a:p>
        </p:txBody>
      </p:sp>
      <p:sp>
        <p:nvSpPr>
          <p:cNvPr id="29" name="Text 27"/>
          <p:cNvSpPr/>
          <p:nvPr/>
        </p:nvSpPr>
        <p:spPr>
          <a:xfrm>
            <a:off x="6446520" y="5504688"/>
            <a:ext cx="4663440" cy="640080"/>
          </a:xfrm>
          <a:prstGeom prst="rect">
            <a:avLst/>
          </a:prstGeom>
          <a:noFill/>
          <a:ln/>
        </p:spPr>
        <p:txBody>
          <a:bodyPr wrap="square" lIns="0" tIns="0" rIns="0" bIns="0" rtlCol="0" anchor="ctr"/>
          <a:lstStyle/>
          <a:p>
            <a:pPr indent="0" marL="0">
              <a:lnSpc>
                <a:spcPct val="130000"/>
              </a:lnSpc>
              <a:buNone/>
            </a:pPr>
            <a:r>
              <a:rPr lang="en-US" sz="1200" dirty="0">
                <a:solidFill>
                  <a:srgbClr val="5B6478"/>
                </a:solidFill>
                <a:latin typeface="Calibri" pitchFamily="34" charset="0"/>
                <a:ea typeface="Calibri" pitchFamily="34" charset="-122"/>
                <a:cs typeface="Calibri" pitchFamily="34" charset="-120"/>
              </a:rPr>
              <a:t>How the design maps directly onto each attack vector, and what's left to harden.</a:t>
            </a:r>
            <a:endParaRPr lang="en-US" sz="1200" dirty="0"/>
          </a:p>
        </p:txBody>
      </p:sp>
      <p:sp>
        <p:nvSpPr>
          <p:cNvPr id="30" name="Text 28"/>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FDEBEC"/>
          </a:solidFill>
          <a:ln/>
        </p:spPr>
      </p:sp>
      <p:sp>
        <p:nvSpPr>
          <p:cNvPr id="3" name="Shape 1"/>
          <p:cNvSpPr/>
          <p:nvPr/>
        </p:nvSpPr>
        <p:spPr>
          <a:xfrm>
            <a:off x="781812" y="662940"/>
            <a:ext cx="283464" cy="283464"/>
          </a:xfrm>
          <a:prstGeom prst="lightningBolt">
            <a:avLst/>
          </a:prstGeom>
          <a:solidFill>
            <a:srgbClr val="FF4D5E"/>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THE THREAT</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What Is an Energy Depletion Attack?</a:t>
            </a:r>
            <a:endParaRPr lang="en-US" sz="3000" dirty="0"/>
          </a:p>
        </p:txBody>
      </p:sp>
      <p:sp>
        <p:nvSpPr>
          <p:cNvPr id="6" name="Text 4"/>
          <p:cNvSpPr/>
          <p:nvPr/>
        </p:nvSpPr>
        <p:spPr>
          <a:xfrm>
            <a:off x="640080" y="1691640"/>
            <a:ext cx="6126480" cy="1828800"/>
          </a:xfrm>
          <a:prstGeom prst="rect">
            <a:avLst/>
          </a:prstGeom>
          <a:noFill/>
          <a:ln/>
        </p:spPr>
        <p:txBody>
          <a:bodyPr wrap="square" lIns="0" tIns="0" rIns="0" bIns="0" rtlCol="0" anchor="ctr"/>
          <a:lstStyle/>
          <a:p>
            <a:pPr algn="l" indent="0" marL="0">
              <a:lnSpc>
                <a:spcPct val="135000"/>
              </a:lnSpc>
              <a:buNone/>
            </a:pPr>
            <a:r>
              <a:rPr lang="en-US" sz="1500" dirty="0">
                <a:solidFill>
                  <a:srgbClr val="121826"/>
                </a:solidFill>
                <a:latin typeface="Calibri" pitchFamily="34" charset="0"/>
                <a:ea typeface="Calibri" pitchFamily="34" charset="-122"/>
                <a:cs typeface="Calibri" pitchFamily="34" charset="-120"/>
              </a:rPr>
              <a:t>A </a:t>
            </a:r>
            <a:pPr algn="l" indent="0" marL="0">
              <a:lnSpc>
                <a:spcPct val="135000"/>
              </a:lnSpc>
              <a:buNone/>
            </a:pPr>
            <a:r>
              <a:rPr lang="en-US" sz="1500" b="1" dirty="0">
                <a:solidFill>
                  <a:srgbClr val="121826"/>
                </a:solidFill>
                <a:latin typeface="Calibri" pitchFamily="34" charset="0"/>
                <a:ea typeface="Calibri" pitchFamily="34" charset="-122"/>
                <a:cs typeface="Calibri" pitchFamily="34" charset="-120"/>
              </a:rPr>
              <a:t>denial-of-service attack aimed at a device's power budget, not its logic.</a:t>
            </a:r>
            <a:pPr algn="l" indent="0" marL="0">
              <a:lnSpc>
                <a:spcPct val="135000"/>
              </a:lnSpc>
              <a:buNone/>
            </a:pPr>
            <a:r>
              <a:rPr lang="en-US" sz="1500" dirty="0">
                <a:solidFill>
                  <a:srgbClr val="121826"/>
                </a:solidFill>
                <a:latin typeface="Calibri" pitchFamily="34" charset="0"/>
                <a:ea typeface="Calibri" pitchFamily="34" charset="-122"/>
                <a:cs typeface="Calibri" pitchFamily="34" charset="-120"/>
              </a:rPr>
              <a:t> Instead of crashing or corrupting a battery-powered device, the attacker repeatedly forces it to perform its most power-hungry operations — radio transmission, cryptographic handshakes, actuation — far more often than the device's normal workload requires.</a:t>
            </a:r>
            <a:endParaRPr lang="en-US" sz="1500" dirty="0"/>
          </a:p>
        </p:txBody>
      </p:sp>
      <p:sp>
        <p:nvSpPr>
          <p:cNvPr id="7" name="Text 5"/>
          <p:cNvSpPr/>
          <p:nvPr/>
        </p:nvSpPr>
        <p:spPr>
          <a:xfrm>
            <a:off x="640080" y="3566160"/>
            <a:ext cx="6126480" cy="1005840"/>
          </a:xfrm>
          <a:prstGeom prst="rect">
            <a:avLst/>
          </a:prstGeom>
          <a:noFill/>
          <a:ln/>
        </p:spPr>
        <p:txBody>
          <a:bodyPr wrap="square" lIns="0" tIns="0" rIns="0" bIns="0" rtlCol="0" anchor="ctr"/>
          <a:lstStyle/>
          <a:p>
            <a:pPr algn="l" indent="0" marL="0">
              <a:lnSpc>
                <a:spcPct val="130000"/>
              </a:lnSpc>
              <a:buNone/>
            </a:pPr>
            <a:r>
              <a:rPr lang="en-US" sz="1250" i="1" dirty="0">
                <a:solidFill>
                  <a:srgbClr val="5B6478"/>
                </a:solidFill>
                <a:latin typeface="Calibri" pitchFamily="34" charset="0"/>
                <a:ea typeface="Calibri" pitchFamily="34" charset="-122"/>
                <a:cs typeface="Calibri" pitchFamily="34" charset="-120"/>
              </a:rPr>
              <a:t>First formalized for implantable medical devices in the IMD security literature (e.g. Halperin et al., 2008), which showed that a pacemaker/ICD's wireless telemetry interface could be abused to drain a battery meant to last years, not sessions.</a:t>
            </a:r>
            <a:endParaRPr lang="en-US" sz="1250" dirty="0"/>
          </a:p>
        </p:txBody>
      </p:sp>
      <p:sp>
        <p:nvSpPr>
          <p:cNvPr id="8" name="Shape 6"/>
          <p:cNvSpPr/>
          <p:nvPr/>
        </p:nvSpPr>
        <p:spPr>
          <a:xfrm>
            <a:off x="640080" y="4709160"/>
            <a:ext cx="6126480" cy="1417320"/>
          </a:xfrm>
          <a:prstGeom prst="roundRect">
            <a:avLst>
              <a:gd name="adj" fmla="val 7742"/>
            </a:avLst>
          </a:prstGeom>
          <a:solidFill>
            <a:srgbClr val="FFFFFF"/>
          </a:solidFill>
          <a:ln/>
          <a:effectLst>
            <a:outerShdw sx="100000" sy="100000" kx="0" ky="0" algn="bl" rotWithShape="0" blurRad="127000" dist="38100" dir="5400000">
              <a:srgbClr val="1B2850">
                <a:alpha val="18000"/>
              </a:srgbClr>
            </a:outerShdw>
          </a:effectLst>
        </p:spPr>
      </p:sp>
      <p:sp>
        <p:nvSpPr>
          <p:cNvPr id="9" name="Text 7"/>
          <p:cNvSpPr/>
          <p:nvPr/>
        </p:nvSpPr>
        <p:spPr>
          <a:xfrm>
            <a:off x="868680" y="4864608"/>
            <a:ext cx="5669280" cy="320040"/>
          </a:xfrm>
          <a:prstGeom prst="rect">
            <a:avLst/>
          </a:prstGeom>
          <a:noFill/>
          <a:ln/>
        </p:spPr>
        <p:txBody>
          <a:bodyPr wrap="square" lIns="0" tIns="0" rIns="0" bIns="0" rtlCol="0" anchor="ctr"/>
          <a:lstStyle/>
          <a:p>
            <a:pPr indent="0" marL="0">
              <a:buNone/>
            </a:pPr>
            <a:r>
              <a:rPr lang="en-US" sz="1400" b="1" dirty="0">
                <a:solidFill>
                  <a:srgbClr val="121826"/>
                </a:solidFill>
                <a:latin typeface="Cambria" pitchFamily="34" charset="0"/>
                <a:ea typeface="Cambria" pitchFamily="34" charset="-122"/>
                <a:cs typeface="Cambria" pitchFamily="34" charset="-120"/>
              </a:rPr>
              <a:t>Why implants are a special case</a:t>
            </a:r>
            <a:endParaRPr lang="en-US" sz="1400" dirty="0"/>
          </a:p>
        </p:txBody>
      </p:sp>
      <p:sp>
        <p:nvSpPr>
          <p:cNvPr id="10" name="Text 8"/>
          <p:cNvSpPr/>
          <p:nvPr/>
        </p:nvSpPr>
        <p:spPr>
          <a:xfrm>
            <a:off x="868680" y="5193792"/>
            <a:ext cx="5669280" cy="822960"/>
          </a:xfrm>
          <a:prstGeom prst="rect">
            <a:avLst/>
          </a:prstGeom>
          <a:noFill/>
          <a:ln/>
        </p:spPr>
        <p:txBody>
          <a:bodyPr wrap="square" lIns="0" tIns="0" rIns="0" bIns="0" rtlCol="0" anchor="ctr"/>
          <a:lstStyle/>
          <a:p>
            <a:pPr marL="342900" indent="-342900">
              <a:spcAft>
                <a:spcPts val="600"/>
              </a:spcAft>
              <a:buSzPct val="100000"/>
              <a:buChar char="•"/>
            </a:pPr>
            <a:r>
              <a:rPr lang="en-US" sz="1200" dirty="0">
                <a:solidFill>
                  <a:srgbClr val="5B6478"/>
                </a:solidFill>
                <a:latin typeface="Calibri" pitchFamily="34" charset="0"/>
                <a:ea typeface="Calibri" pitchFamily="34" charset="-122"/>
                <a:cs typeface="Calibri" pitchFamily="34" charset="-120"/>
              </a:rPr>
              <a:t>Sealed, non-rechargeable battery — depletion means surgery, not a charger.</a:t>
            </a:r>
            <a:endParaRPr lang="en-US" sz="1200" dirty="0"/>
          </a:p>
          <a:p>
            <a:pPr marL="342900" indent="-342900">
              <a:spcAft>
                <a:spcPts val="600"/>
              </a:spcAft>
              <a:buSzPct val="100000"/>
              <a:buChar char="•"/>
            </a:pPr>
            <a:r>
              <a:rPr lang="en-US" sz="1200" dirty="0">
                <a:solidFill>
                  <a:srgbClr val="5B6478"/>
                </a:solidFill>
                <a:latin typeface="Calibri" pitchFamily="34" charset="0"/>
                <a:ea typeface="Calibri" pitchFamily="34" charset="-122"/>
                <a:cs typeface="Calibri" pitchFamily="34" charset="-120"/>
              </a:rPr>
              <a:t>Typical implant life: 5–15 years by design — an attacker only needs to shorten that.</a:t>
            </a:r>
            <a:endParaRPr lang="en-US" sz="1200" dirty="0"/>
          </a:p>
        </p:txBody>
      </p:sp>
      <p:sp>
        <p:nvSpPr>
          <p:cNvPr id="11" name="Shape 9"/>
          <p:cNvSpPr/>
          <p:nvPr/>
        </p:nvSpPr>
        <p:spPr>
          <a:xfrm>
            <a:off x="7223760" y="1691640"/>
            <a:ext cx="4297680" cy="4434840"/>
          </a:xfrm>
          <a:prstGeom prst="roundRect">
            <a:avLst>
              <a:gd name="adj" fmla="val 2553"/>
            </a:avLst>
          </a:prstGeom>
          <a:solidFill>
            <a:srgbClr val="FFFFFF"/>
          </a:solidFill>
          <a:ln/>
          <a:effectLst>
            <a:outerShdw sx="100000" sy="100000" kx="0" ky="0" algn="bl" rotWithShape="0" blurRad="127000" dist="38100" dir="5400000">
              <a:srgbClr val="1B2850">
                <a:alpha val="18000"/>
              </a:srgbClr>
            </a:outerShdw>
          </a:effectLst>
        </p:spPr>
      </p:sp>
      <p:sp>
        <p:nvSpPr>
          <p:cNvPr id="12" name="Text 10"/>
          <p:cNvSpPr/>
          <p:nvPr/>
        </p:nvSpPr>
        <p:spPr>
          <a:xfrm>
            <a:off x="7498080" y="1920240"/>
            <a:ext cx="3749040" cy="365760"/>
          </a:xfrm>
          <a:prstGeom prst="rect">
            <a:avLst/>
          </a:prstGeom>
          <a:noFill/>
          <a:ln/>
        </p:spPr>
        <p:txBody>
          <a:bodyPr wrap="square" lIns="0" tIns="0" rIns="0" bIns="0" rtlCol="0" anchor="ctr"/>
          <a:lstStyle/>
          <a:p>
            <a:pPr indent="0" marL="0">
              <a:buNone/>
            </a:pPr>
            <a:r>
              <a:rPr lang="en-US" sz="1500" b="1" dirty="0">
                <a:solidFill>
                  <a:srgbClr val="121826"/>
                </a:solidFill>
                <a:latin typeface="Cambria" pitchFamily="34" charset="0"/>
                <a:ea typeface="Cambria" pitchFamily="34" charset="-122"/>
                <a:cs typeface="Cambria" pitchFamily="34" charset="-120"/>
              </a:rPr>
              <a:t>The economics of the attack</a:t>
            </a:r>
            <a:endParaRPr lang="en-US" sz="1500" dirty="0"/>
          </a:p>
        </p:txBody>
      </p:sp>
      <p:sp>
        <p:nvSpPr>
          <p:cNvPr id="13" name="Text 11"/>
          <p:cNvSpPr/>
          <p:nvPr/>
        </p:nvSpPr>
        <p:spPr>
          <a:xfrm>
            <a:off x="7498080" y="2468880"/>
            <a:ext cx="3749040" cy="256032"/>
          </a:xfrm>
          <a:prstGeom prst="rect">
            <a:avLst/>
          </a:prstGeom>
          <a:noFill/>
          <a:ln/>
        </p:spPr>
        <p:txBody>
          <a:bodyPr wrap="square" lIns="0" tIns="0" rIns="0" bIns="0" rtlCol="0" anchor="ctr"/>
          <a:lstStyle/>
          <a:p>
            <a:pPr indent="0" marL="0">
              <a:buNone/>
            </a:pPr>
            <a:r>
              <a:rPr lang="en-US" sz="1050" b="1" spc="150" kern="0" dirty="0">
                <a:solidFill>
                  <a:srgbClr val="5C63B8"/>
                </a:solidFill>
                <a:latin typeface="Calibri" pitchFamily="34" charset="0"/>
                <a:ea typeface="Calibri" pitchFamily="34" charset="-122"/>
                <a:cs typeface="Calibri" pitchFamily="34" charset="-120"/>
              </a:rPr>
              <a:t>ATTACKER COST</a:t>
            </a:r>
            <a:endParaRPr lang="en-US" sz="1050" dirty="0"/>
          </a:p>
        </p:txBody>
      </p:sp>
      <p:sp>
        <p:nvSpPr>
          <p:cNvPr id="14" name="Text 12"/>
          <p:cNvSpPr/>
          <p:nvPr/>
        </p:nvSpPr>
        <p:spPr>
          <a:xfrm>
            <a:off x="7498080" y="2706624"/>
            <a:ext cx="3749040" cy="411480"/>
          </a:xfrm>
          <a:prstGeom prst="rect">
            <a:avLst/>
          </a:prstGeom>
          <a:noFill/>
          <a:ln/>
        </p:spPr>
        <p:txBody>
          <a:bodyPr wrap="square" lIns="0" tIns="0" rIns="0" bIns="0" rtlCol="0" anchor="ctr"/>
          <a:lstStyle/>
          <a:p>
            <a:pPr indent="0" marL="0">
              <a:buNone/>
            </a:pPr>
            <a:r>
              <a:rPr lang="en-US" sz="2200" b="1" dirty="0">
                <a:solidFill>
                  <a:srgbClr val="FF4D5E"/>
                </a:solidFill>
                <a:latin typeface="Cambria" pitchFamily="34" charset="0"/>
                <a:ea typeface="Cambria" pitchFamily="34" charset="-122"/>
                <a:cs typeface="Cambria" pitchFamily="34" charset="-120"/>
              </a:rPr>
              <a:t>Low</a:t>
            </a:r>
            <a:endParaRPr lang="en-US" sz="2200" dirty="0"/>
          </a:p>
        </p:txBody>
      </p:sp>
      <p:sp>
        <p:nvSpPr>
          <p:cNvPr id="15" name="Text 13"/>
          <p:cNvSpPr/>
          <p:nvPr/>
        </p:nvSpPr>
        <p:spPr>
          <a:xfrm>
            <a:off x="7498080" y="3145536"/>
            <a:ext cx="3749040" cy="502920"/>
          </a:xfrm>
          <a:prstGeom prst="rect">
            <a:avLst/>
          </a:prstGeom>
          <a:noFill/>
          <a:ln/>
        </p:spPr>
        <p:txBody>
          <a:bodyPr wrap="square" lIns="0" tIns="0" rIns="0" bIns="0" rtlCol="0" anchor="ctr"/>
          <a:lstStyle/>
          <a:p>
            <a:pPr indent="0" marL="0">
              <a:lnSpc>
                <a:spcPct val="120000"/>
              </a:lnSpc>
              <a:buNone/>
            </a:pPr>
            <a:r>
              <a:rPr lang="en-US" sz="1100" dirty="0">
                <a:solidFill>
                  <a:srgbClr val="5B6478"/>
                </a:solidFill>
                <a:latin typeface="Calibri" pitchFamily="34" charset="0"/>
                <a:ea typeface="Calibri" pitchFamily="34" charset="-122"/>
                <a:cs typeface="Calibri" pitchFamily="34" charset="-120"/>
              </a:rPr>
              <a:t>no need to break crypto or pacing logic — just keep the radio busy</a:t>
            </a:r>
            <a:endParaRPr lang="en-US" sz="1100" dirty="0"/>
          </a:p>
        </p:txBody>
      </p:sp>
      <p:sp>
        <p:nvSpPr>
          <p:cNvPr id="16" name="Text 14"/>
          <p:cNvSpPr/>
          <p:nvPr/>
        </p:nvSpPr>
        <p:spPr>
          <a:xfrm>
            <a:off x="7498080" y="3675888"/>
            <a:ext cx="3749040" cy="256032"/>
          </a:xfrm>
          <a:prstGeom prst="rect">
            <a:avLst/>
          </a:prstGeom>
          <a:noFill/>
          <a:ln/>
        </p:spPr>
        <p:txBody>
          <a:bodyPr wrap="square" lIns="0" tIns="0" rIns="0" bIns="0" rtlCol="0" anchor="ctr"/>
          <a:lstStyle/>
          <a:p>
            <a:pPr indent="0" marL="0">
              <a:buNone/>
            </a:pPr>
            <a:r>
              <a:rPr lang="en-US" sz="1050" b="1" spc="150" kern="0" dirty="0">
                <a:solidFill>
                  <a:srgbClr val="5C63B8"/>
                </a:solidFill>
                <a:latin typeface="Calibri" pitchFamily="34" charset="0"/>
                <a:ea typeface="Calibri" pitchFamily="34" charset="-122"/>
                <a:cs typeface="Calibri" pitchFamily="34" charset="-120"/>
              </a:rPr>
              <a:t>DETECTABILITY</a:t>
            </a:r>
            <a:endParaRPr lang="en-US" sz="1050" dirty="0"/>
          </a:p>
        </p:txBody>
      </p:sp>
      <p:sp>
        <p:nvSpPr>
          <p:cNvPr id="17" name="Text 15"/>
          <p:cNvSpPr/>
          <p:nvPr/>
        </p:nvSpPr>
        <p:spPr>
          <a:xfrm>
            <a:off x="7498080" y="3913632"/>
            <a:ext cx="3749040" cy="411480"/>
          </a:xfrm>
          <a:prstGeom prst="rect">
            <a:avLst/>
          </a:prstGeom>
          <a:noFill/>
          <a:ln/>
        </p:spPr>
        <p:txBody>
          <a:bodyPr wrap="square" lIns="0" tIns="0" rIns="0" bIns="0" rtlCol="0" anchor="ctr"/>
          <a:lstStyle/>
          <a:p>
            <a:pPr indent="0" marL="0">
              <a:buNone/>
            </a:pPr>
            <a:r>
              <a:rPr lang="en-US" sz="2200" b="1" dirty="0">
                <a:solidFill>
                  <a:srgbClr val="FF4D5E"/>
                </a:solidFill>
                <a:latin typeface="Cambria" pitchFamily="34" charset="0"/>
                <a:ea typeface="Cambria" pitchFamily="34" charset="-122"/>
                <a:cs typeface="Cambria" pitchFamily="34" charset="-120"/>
              </a:rPr>
              <a:t>Low</a:t>
            </a:r>
            <a:endParaRPr lang="en-US" sz="2200" dirty="0"/>
          </a:p>
        </p:txBody>
      </p:sp>
      <p:sp>
        <p:nvSpPr>
          <p:cNvPr id="18" name="Text 16"/>
          <p:cNvSpPr/>
          <p:nvPr/>
        </p:nvSpPr>
        <p:spPr>
          <a:xfrm>
            <a:off x="7498080" y="4352544"/>
            <a:ext cx="3749040" cy="502920"/>
          </a:xfrm>
          <a:prstGeom prst="rect">
            <a:avLst/>
          </a:prstGeom>
          <a:noFill/>
          <a:ln/>
        </p:spPr>
        <p:txBody>
          <a:bodyPr wrap="square" lIns="0" tIns="0" rIns="0" bIns="0" rtlCol="0" anchor="ctr"/>
          <a:lstStyle/>
          <a:p>
            <a:pPr indent="0" marL="0">
              <a:lnSpc>
                <a:spcPct val="120000"/>
              </a:lnSpc>
              <a:buNone/>
            </a:pPr>
            <a:r>
              <a:rPr lang="en-US" sz="1100" dirty="0">
                <a:solidFill>
                  <a:srgbClr val="5B6478"/>
                </a:solidFill>
                <a:latin typeface="Calibri" pitchFamily="34" charset="0"/>
                <a:ea typeface="Calibri" pitchFamily="34" charset="-122"/>
                <a:cs typeface="Calibri" pitchFamily="34" charset="-120"/>
              </a:rPr>
              <a:t>looks like ordinary telemetry traffic, not a crash or an error</a:t>
            </a:r>
            <a:endParaRPr lang="en-US" sz="1100" dirty="0"/>
          </a:p>
        </p:txBody>
      </p:sp>
      <p:sp>
        <p:nvSpPr>
          <p:cNvPr id="19" name="Text 17"/>
          <p:cNvSpPr/>
          <p:nvPr/>
        </p:nvSpPr>
        <p:spPr>
          <a:xfrm>
            <a:off x="7498080" y="4882896"/>
            <a:ext cx="3749040" cy="256032"/>
          </a:xfrm>
          <a:prstGeom prst="rect">
            <a:avLst/>
          </a:prstGeom>
          <a:noFill/>
          <a:ln/>
        </p:spPr>
        <p:txBody>
          <a:bodyPr wrap="square" lIns="0" tIns="0" rIns="0" bIns="0" rtlCol="0" anchor="ctr"/>
          <a:lstStyle/>
          <a:p>
            <a:pPr indent="0" marL="0">
              <a:buNone/>
            </a:pPr>
            <a:r>
              <a:rPr lang="en-US" sz="1050" b="1" spc="150" kern="0" dirty="0">
                <a:solidFill>
                  <a:srgbClr val="5C63B8"/>
                </a:solidFill>
                <a:latin typeface="Calibri" pitchFamily="34" charset="0"/>
                <a:ea typeface="Calibri" pitchFamily="34" charset="-122"/>
                <a:cs typeface="Calibri" pitchFamily="34" charset="-120"/>
              </a:rPr>
              <a:t>PATIENT IMPACT</a:t>
            </a:r>
            <a:endParaRPr lang="en-US" sz="1050" dirty="0"/>
          </a:p>
        </p:txBody>
      </p:sp>
      <p:sp>
        <p:nvSpPr>
          <p:cNvPr id="20" name="Text 18"/>
          <p:cNvSpPr/>
          <p:nvPr/>
        </p:nvSpPr>
        <p:spPr>
          <a:xfrm>
            <a:off x="7498080" y="5120640"/>
            <a:ext cx="3749040" cy="411480"/>
          </a:xfrm>
          <a:prstGeom prst="rect">
            <a:avLst/>
          </a:prstGeom>
          <a:noFill/>
          <a:ln/>
        </p:spPr>
        <p:txBody>
          <a:bodyPr wrap="square" lIns="0" tIns="0" rIns="0" bIns="0" rtlCol="0" anchor="ctr"/>
          <a:lstStyle/>
          <a:p>
            <a:pPr indent="0" marL="0">
              <a:buNone/>
            </a:pPr>
            <a:r>
              <a:rPr lang="en-US" sz="2200" b="1" dirty="0">
                <a:solidFill>
                  <a:srgbClr val="FF4D5E"/>
                </a:solidFill>
                <a:latin typeface="Cambria" pitchFamily="34" charset="0"/>
                <a:ea typeface="Cambria" pitchFamily="34" charset="-122"/>
                <a:cs typeface="Cambria" pitchFamily="34" charset="-120"/>
              </a:rPr>
              <a:t>Delayed but severe</a:t>
            </a:r>
            <a:endParaRPr lang="en-US" sz="2200" dirty="0"/>
          </a:p>
        </p:txBody>
      </p:sp>
      <p:sp>
        <p:nvSpPr>
          <p:cNvPr id="21" name="Text 19"/>
          <p:cNvSpPr/>
          <p:nvPr/>
        </p:nvSpPr>
        <p:spPr>
          <a:xfrm>
            <a:off x="7498080" y="5559552"/>
            <a:ext cx="3749040" cy="502920"/>
          </a:xfrm>
          <a:prstGeom prst="rect">
            <a:avLst/>
          </a:prstGeom>
          <a:noFill/>
          <a:ln/>
        </p:spPr>
        <p:txBody>
          <a:bodyPr wrap="square" lIns="0" tIns="0" rIns="0" bIns="0" rtlCol="0" anchor="ctr"/>
          <a:lstStyle/>
          <a:p>
            <a:pPr indent="0" marL="0">
              <a:lnSpc>
                <a:spcPct val="120000"/>
              </a:lnSpc>
              <a:buNone/>
            </a:pPr>
            <a:r>
              <a:rPr lang="en-US" sz="1100" dirty="0">
                <a:solidFill>
                  <a:srgbClr val="5B6478"/>
                </a:solidFill>
                <a:latin typeface="Calibri" pitchFamily="34" charset="0"/>
                <a:ea typeface="Calibri" pitchFamily="34" charset="-122"/>
                <a:cs typeface="Calibri" pitchFamily="34" charset="-120"/>
              </a:rPr>
              <a:t>premature replacement surgery, or therapy denied once depleted</a:t>
            </a:r>
            <a:endParaRPr lang="en-US" sz="1100" dirty="0"/>
          </a:p>
        </p:txBody>
      </p:sp>
      <p:sp>
        <p:nvSpPr>
          <p:cNvPr id="22" name="Text 20"/>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141F3D"/>
          </a:solidFill>
          <a:ln/>
        </p:spPr>
      </p:sp>
      <p:sp>
        <p:nvSpPr>
          <p:cNvPr id="3" name="Shape 1"/>
          <p:cNvSpPr/>
          <p:nvPr/>
        </p:nvSpPr>
        <p:spPr>
          <a:xfrm>
            <a:off x="781812" y="662940"/>
            <a:ext cx="283464" cy="283464"/>
          </a:xfrm>
          <a:prstGeom prst="wave">
            <a:avLst/>
          </a:prstGeom>
          <a:solidFill>
            <a:srgbClr val="FF4D5E"/>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C3C8FC"/>
                </a:solidFill>
                <a:latin typeface="Calibri" pitchFamily="34" charset="0"/>
                <a:ea typeface="Calibri" pitchFamily="34" charset="-122"/>
                <a:cs typeface="Calibri" pitchFamily="34" charset="-120"/>
              </a:rPr>
              <a:t>THE THREAT</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F5F6FC"/>
                </a:solidFill>
                <a:latin typeface="Cambria" pitchFamily="34" charset="0"/>
                <a:ea typeface="Cambria" pitchFamily="34" charset="-122"/>
                <a:cs typeface="Cambria" pitchFamily="34" charset="-120"/>
              </a:rPr>
              <a:t>How the Attack Targets a Pacemaker</a:t>
            </a:r>
            <a:endParaRPr lang="en-US" sz="3000" dirty="0"/>
          </a:p>
        </p:txBody>
      </p:sp>
      <p:sp>
        <p:nvSpPr>
          <p:cNvPr id="6" name="Shape 4"/>
          <p:cNvSpPr/>
          <p:nvPr/>
        </p:nvSpPr>
        <p:spPr>
          <a:xfrm>
            <a:off x="640080" y="1737360"/>
            <a:ext cx="3520440" cy="2331720"/>
          </a:xfrm>
          <a:prstGeom prst="roundRect">
            <a:avLst>
              <a:gd name="adj" fmla="val 3922"/>
            </a:avLst>
          </a:prstGeom>
          <a:solidFill>
            <a:srgbClr val="141F3D"/>
          </a:solidFill>
          <a:ln/>
        </p:spPr>
      </p:sp>
      <p:sp>
        <p:nvSpPr>
          <p:cNvPr id="7" name="Shape 5"/>
          <p:cNvSpPr/>
          <p:nvPr/>
        </p:nvSpPr>
        <p:spPr>
          <a:xfrm>
            <a:off x="896112" y="1993392"/>
            <a:ext cx="512064" cy="512064"/>
          </a:xfrm>
          <a:prstGeom prst="ellipse">
            <a:avLst/>
          </a:prstGeom>
          <a:solidFill>
            <a:srgbClr val="1B2850"/>
          </a:solidFill>
          <a:ln/>
        </p:spPr>
      </p:sp>
      <p:sp>
        <p:nvSpPr>
          <p:cNvPr id="8" name="Shape 6"/>
          <p:cNvSpPr/>
          <p:nvPr/>
        </p:nvSpPr>
        <p:spPr>
          <a:xfrm>
            <a:off x="1024128" y="2121408"/>
            <a:ext cx="256032" cy="256032"/>
          </a:xfrm>
          <a:prstGeom prst="circularArrow">
            <a:avLst/>
          </a:prstGeom>
          <a:solidFill>
            <a:srgbClr val="FF4D5E"/>
          </a:solidFill>
          <a:ln/>
        </p:spPr>
      </p:sp>
      <p:sp>
        <p:nvSpPr>
          <p:cNvPr id="9" name="Text 7"/>
          <p:cNvSpPr/>
          <p:nvPr/>
        </p:nvSpPr>
        <p:spPr>
          <a:xfrm>
            <a:off x="896112" y="2651760"/>
            <a:ext cx="3008376" cy="50292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Repeated interrogation</a:t>
            </a:r>
            <a:endParaRPr lang="en-US" sz="1450" dirty="0"/>
          </a:p>
        </p:txBody>
      </p:sp>
      <p:sp>
        <p:nvSpPr>
          <p:cNvPr id="10" name="Text 8"/>
          <p:cNvSpPr/>
          <p:nvPr/>
        </p:nvSpPr>
        <p:spPr>
          <a:xfrm>
            <a:off x="896112" y="3108960"/>
            <a:ext cx="3008376" cy="914400"/>
          </a:xfrm>
          <a:prstGeom prst="rect">
            <a:avLst/>
          </a:prstGeom>
          <a:noFill/>
          <a:ln/>
        </p:spPr>
        <p:txBody>
          <a:bodyPr wrap="square" lIns="0" tIns="0" rIns="0" bIns="0" rtlCol="0" anchor="ctr"/>
          <a:lstStyle/>
          <a:p>
            <a:pPr indent="0" marL="0">
              <a:lnSpc>
                <a:spcPct val="125000"/>
              </a:lnSpc>
              <a:buNone/>
            </a:pPr>
            <a:r>
              <a:rPr lang="en-US" sz="1100" dirty="0">
                <a:solidFill>
                  <a:srgbClr val="9AA3C7"/>
                </a:solidFill>
                <a:latin typeface="Calibri" pitchFamily="34" charset="0"/>
                <a:ea typeface="Calibri" pitchFamily="34" charset="-122"/>
                <a:cs typeface="Calibri" pitchFamily="34" charset="-120"/>
              </a:rPr>
              <a:t>Flooding the telemetry radio with read/status requests, forcing it to wake and answer far more often than a clinic visit ever would.</a:t>
            </a:r>
            <a:endParaRPr lang="en-US" sz="1100" dirty="0"/>
          </a:p>
        </p:txBody>
      </p:sp>
      <p:sp>
        <p:nvSpPr>
          <p:cNvPr id="11" name="Shape 9"/>
          <p:cNvSpPr/>
          <p:nvPr/>
        </p:nvSpPr>
        <p:spPr>
          <a:xfrm>
            <a:off x="4389120" y="1737360"/>
            <a:ext cx="3520440" cy="2331720"/>
          </a:xfrm>
          <a:prstGeom prst="roundRect">
            <a:avLst>
              <a:gd name="adj" fmla="val 3922"/>
            </a:avLst>
          </a:prstGeom>
          <a:solidFill>
            <a:srgbClr val="141F3D"/>
          </a:solidFill>
          <a:ln/>
        </p:spPr>
      </p:sp>
      <p:sp>
        <p:nvSpPr>
          <p:cNvPr id="12" name="Shape 10"/>
          <p:cNvSpPr/>
          <p:nvPr/>
        </p:nvSpPr>
        <p:spPr>
          <a:xfrm>
            <a:off x="4645152" y="1993392"/>
            <a:ext cx="512064" cy="512064"/>
          </a:xfrm>
          <a:prstGeom prst="ellipse">
            <a:avLst/>
          </a:prstGeom>
          <a:solidFill>
            <a:srgbClr val="1B2850"/>
          </a:solidFill>
          <a:ln/>
        </p:spPr>
      </p:sp>
      <p:sp>
        <p:nvSpPr>
          <p:cNvPr id="13" name="Shape 11"/>
          <p:cNvSpPr/>
          <p:nvPr/>
        </p:nvSpPr>
        <p:spPr>
          <a:xfrm>
            <a:off x="4773168" y="2121408"/>
            <a:ext cx="256032" cy="256032"/>
          </a:xfrm>
          <a:prstGeom prst="lightningBolt">
            <a:avLst/>
          </a:prstGeom>
          <a:solidFill>
            <a:srgbClr val="FF4D5E"/>
          </a:solidFill>
          <a:ln/>
        </p:spPr>
      </p:sp>
      <p:sp>
        <p:nvSpPr>
          <p:cNvPr id="14" name="Text 12"/>
          <p:cNvSpPr/>
          <p:nvPr/>
        </p:nvSpPr>
        <p:spPr>
          <a:xfrm>
            <a:off x="4645152" y="2651760"/>
            <a:ext cx="3008376" cy="50292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Forced extra pacing</a:t>
            </a:r>
            <a:endParaRPr lang="en-US" sz="1450" dirty="0"/>
          </a:p>
        </p:txBody>
      </p:sp>
      <p:sp>
        <p:nvSpPr>
          <p:cNvPr id="15" name="Text 13"/>
          <p:cNvSpPr/>
          <p:nvPr/>
        </p:nvSpPr>
        <p:spPr>
          <a:xfrm>
            <a:off x="4645152" y="3108960"/>
            <a:ext cx="3008376" cy="914400"/>
          </a:xfrm>
          <a:prstGeom prst="rect">
            <a:avLst/>
          </a:prstGeom>
          <a:noFill/>
          <a:ln/>
        </p:spPr>
        <p:txBody>
          <a:bodyPr wrap="square" lIns="0" tIns="0" rIns="0" bIns="0" rtlCol="0" anchor="ctr"/>
          <a:lstStyle/>
          <a:p>
            <a:pPr indent="0" marL="0">
              <a:lnSpc>
                <a:spcPct val="125000"/>
              </a:lnSpc>
              <a:buNone/>
            </a:pPr>
            <a:r>
              <a:rPr lang="en-US" sz="1100" dirty="0">
                <a:solidFill>
                  <a:srgbClr val="9AA3C7"/>
                </a:solidFill>
                <a:latin typeface="Calibri" pitchFamily="34" charset="0"/>
                <a:ea typeface="Calibri" pitchFamily="34" charset="-122"/>
                <a:cs typeface="Calibri" pitchFamily="34" charset="-120"/>
              </a:rPr>
              <a:t>Issuing spoofed or excessive pacing/voltage commands — every extra pulse burns real energy from a fixed budget.</a:t>
            </a:r>
            <a:endParaRPr lang="en-US" sz="1100" dirty="0"/>
          </a:p>
        </p:txBody>
      </p:sp>
      <p:sp>
        <p:nvSpPr>
          <p:cNvPr id="16" name="Shape 14"/>
          <p:cNvSpPr/>
          <p:nvPr/>
        </p:nvSpPr>
        <p:spPr>
          <a:xfrm>
            <a:off x="8138160" y="1737360"/>
            <a:ext cx="3520440" cy="2331720"/>
          </a:xfrm>
          <a:prstGeom prst="roundRect">
            <a:avLst>
              <a:gd name="adj" fmla="val 3922"/>
            </a:avLst>
          </a:prstGeom>
          <a:solidFill>
            <a:srgbClr val="141F3D"/>
          </a:solidFill>
          <a:ln/>
        </p:spPr>
      </p:sp>
      <p:sp>
        <p:nvSpPr>
          <p:cNvPr id="17" name="Shape 15"/>
          <p:cNvSpPr/>
          <p:nvPr/>
        </p:nvSpPr>
        <p:spPr>
          <a:xfrm>
            <a:off x="8394192" y="1993392"/>
            <a:ext cx="512064" cy="512064"/>
          </a:xfrm>
          <a:prstGeom prst="ellipse">
            <a:avLst/>
          </a:prstGeom>
          <a:solidFill>
            <a:srgbClr val="1B2850"/>
          </a:solidFill>
          <a:ln/>
        </p:spPr>
      </p:sp>
      <p:sp>
        <p:nvSpPr>
          <p:cNvPr id="18" name="Shape 16"/>
          <p:cNvSpPr/>
          <p:nvPr/>
        </p:nvSpPr>
        <p:spPr>
          <a:xfrm>
            <a:off x="8522208" y="2121408"/>
            <a:ext cx="256032" cy="256032"/>
          </a:xfrm>
          <a:prstGeom prst="donut">
            <a:avLst/>
          </a:prstGeom>
          <a:solidFill>
            <a:srgbClr val="FF4D5E"/>
          </a:solidFill>
          <a:ln/>
        </p:spPr>
      </p:sp>
      <p:sp>
        <p:nvSpPr>
          <p:cNvPr id="19" name="Text 17"/>
          <p:cNvSpPr/>
          <p:nvPr/>
        </p:nvSpPr>
        <p:spPr>
          <a:xfrm>
            <a:off x="8394192" y="2651760"/>
            <a:ext cx="3008376" cy="50292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Extended listening windows</a:t>
            </a:r>
            <a:endParaRPr lang="en-US" sz="1450" dirty="0"/>
          </a:p>
        </p:txBody>
      </p:sp>
      <p:sp>
        <p:nvSpPr>
          <p:cNvPr id="20" name="Text 18"/>
          <p:cNvSpPr/>
          <p:nvPr/>
        </p:nvSpPr>
        <p:spPr>
          <a:xfrm>
            <a:off x="8394192" y="3108960"/>
            <a:ext cx="3008376" cy="914400"/>
          </a:xfrm>
          <a:prstGeom prst="rect">
            <a:avLst/>
          </a:prstGeom>
          <a:noFill/>
          <a:ln/>
        </p:spPr>
        <p:txBody>
          <a:bodyPr wrap="square" lIns="0" tIns="0" rIns="0" bIns="0" rtlCol="0" anchor="ctr"/>
          <a:lstStyle/>
          <a:p>
            <a:pPr indent="0" marL="0">
              <a:lnSpc>
                <a:spcPct val="125000"/>
              </a:lnSpc>
              <a:buNone/>
            </a:pPr>
            <a:r>
              <a:rPr lang="en-US" sz="1100" dirty="0">
                <a:solidFill>
                  <a:srgbClr val="9AA3C7"/>
                </a:solidFill>
                <a:latin typeface="Calibri" pitchFamily="34" charset="0"/>
                <a:ea typeface="Calibri" pitchFamily="34" charset="-122"/>
                <a:cs typeface="Calibri" pitchFamily="34" charset="-120"/>
              </a:rPr>
              <a:t>Keeping a session or advertising window open longer than needed, so the radio idles in an expensive active state.</a:t>
            </a:r>
            <a:endParaRPr lang="en-US" sz="1100" dirty="0"/>
          </a:p>
        </p:txBody>
      </p:sp>
      <p:sp>
        <p:nvSpPr>
          <p:cNvPr id="21" name="Shape 19"/>
          <p:cNvSpPr/>
          <p:nvPr/>
        </p:nvSpPr>
        <p:spPr>
          <a:xfrm>
            <a:off x="640080" y="4343400"/>
            <a:ext cx="10908792" cy="2011680"/>
          </a:xfrm>
          <a:prstGeom prst="roundRect">
            <a:avLst>
              <a:gd name="adj" fmla="val 4545"/>
            </a:avLst>
          </a:prstGeom>
          <a:solidFill>
            <a:srgbClr val="141F3D"/>
          </a:solidFill>
          <a:ln/>
        </p:spPr>
      </p:sp>
      <p:sp>
        <p:nvSpPr>
          <p:cNvPr id="22" name="Text 20"/>
          <p:cNvSpPr/>
          <p:nvPr/>
        </p:nvSpPr>
        <p:spPr>
          <a:xfrm>
            <a:off x="914400" y="4581144"/>
            <a:ext cx="10241280" cy="365760"/>
          </a:xfrm>
          <a:prstGeom prst="rect">
            <a:avLst/>
          </a:prstGeom>
          <a:noFill/>
          <a:ln/>
        </p:spPr>
        <p:txBody>
          <a:bodyPr wrap="square" lIns="0" tIns="0" rIns="0" bIns="0" rtlCol="0" anchor="ctr"/>
          <a:lstStyle/>
          <a:p>
            <a:pPr indent="0" marL="0">
              <a:buNone/>
            </a:pPr>
            <a:r>
              <a:rPr lang="en-US" sz="1500" b="1" dirty="0">
                <a:solidFill>
                  <a:srgbClr val="C3C8FC"/>
                </a:solidFill>
                <a:latin typeface="Cambria" pitchFamily="34" charset="0"/>
                <a:ea typeface="Cambria" pitchFamily="34" charset="-122"/>
                <a:cs typeface="Cambria" pitchFamily="34" charset="-120"/>
              </a:rPr>
              <a:t>The result isn't a crash — it's a shortened life</a:t>
            </a:r>
            <a:endParaRPr lang="en-US" sz="1500" dirty="0"/>
          </a:p>
        </p:txBody>
      </p:sp>
      <p:sp>
        <p:nvSpPr>
          <p:cNvPr id="23" name="Text 21"/>
          <p:cNvSpPr/>
          <p:nvPr/>
        </p:nvSpPr>
        <p:spPr>
          <a:xfrm>
            <a:off x="914400" y="5120640"/>
            <a:ext cx="10241280" cy="365760"/>
          </a:xfrm>
          <a:prstGeom prst="rect">
            <a:avLst/>
          </a:prstGeom>
          <a:noFill/>
          <a:ln/>
        </p:spPr>
        <p:txBody>
          <a:bodyPr wrap="square" lIns="0" tIns="0" rIns="0" bIns="0" rtlCol="0" anchor="ctr"/>
          <a:lstStyle/>
          <a:p>
            <a:pPr marL="342900" indent="-342900">
              <a:buSzPct val="100000"/>
              <a:buChar char="•"/>
            </a:pPr>
            <a:r>
              <a:rPr lang="en-US" sz="1300" dirty="0">
                <a:solidFill>
                  <a:srgbClr val="F5F6FC"/>
                </a:solidFill>
                <a:latin typeface="Calibri" pitchFamily="34" charset="0"/>
                <a:ea typeface="Calibri" pitchFamily="34" charset="-122"/>
                <a:cs typeface="Calibri" pitchFamily="34" charset="-120"/>
              </a:rPr>
              <a:t>Premature battery depletion → early, avoidable replacement surgery</a:t>
            </a:r>
            <a:endParaRPr lang="en-US" sz="1300" dirty="0"/>
          </a:p>
        </p:txBody>
      </p:sp>
      <p:sp>
        <p:nvSpPr>
          <p:cNvPr id="24" name="Text 22"/>
          <p:cNvSpPr/>
          <p:nvPr/>
        </p:nvSpPr>
        <p:spPr>
          <a:xfrm>
            <a:off x="914400" y="5522976"/>
            <a:ext cx="10241280" cy="365760"/>
          </a:xfrm>
          <a:prstGeom prst="rect">
            <a:avLst/>
          </a:prstGeom>
          <a:noFill/>
          <a:ln/>
        </p:spPr>
        <p:txBody>
          <a:bodyPr wrap="square" lIns="0" tIns="0" rIns="0" bIns="0" rtlCol="0" anchor="ctr"/>
          <a:lstStyle/>
          <a:p>
            <a:pPr marL="342900" indent="-342900">
              <a:buSzPct val="100000"/>
              <a:buChar char="•"/>
            </a:pPr>
            <a:r>
              <a:rPr lang="en-US" sz="1300" dirty="0">
                <a:solidFill>
                  <a:srgbClr val="F5F6FC"/>
                </a:solidFill>
                <a:latin typeface="Calibri" pitchFamily="34" charset="0"/>
                <a:ea typeface="Calibri" pitchFamily="34" charset="-122"/>
                <a:cs typeface="Calibri" pitchFamily="34" charset="-120"/>
              </a:rPr>
              <a:t>Unpredictable failure timing → clinicians lose the years-long planning window</a:t>
            </a:r>
            <a:endParaRPr lang="en-US" sz="1300" dirty="0"/>
          </a:p>
        </p:txBody>
      </p:sp>
      <p:sp>
        <p:nvSpPr>
          <p:cNvPr id="25" name="Text 23"/>
          <p:cNvSpPr/>
          <p:nvPr/>
        </p:nvSpPr>
        <p:spPr>
          <a:xfrm>
            <a:off x="914400" y="5925312"/>
            <a:ext cx="10241280" cy="365760"/>
          </a:xfrm>
          <a:prstGeom prst="rect">
            <a:avLst/>
          </a:prstGeom>
          <a:noFill/>
          <a:ln/>
        </p:spPr>
        <p:txBody>
          <a:bodyPr wrap="square" lIns="0" tIns="0" rIns="0" bIns="0" rtlCol="0" anchor="ctr"/>
          <a:lstStyle/>
          <a:p>
            <a:pPr marL="342900" indent="-342900">
              <a:buSzPct val="100000"/>
              <a:buChar char="•"/>
            </a:pPr>
            <a:r>
              <a:rPr lang="en-US" sz="1300" dirty="0">
                <a:solidFill>
                  <a:srgbClr val="F5F6FC"/>
                </a:solidFill>
                <a:latin typeface="Calibri" pitchFamily="34" charset="0"/>
                <a:ea typeface="Calibri" pitchFamily="34" charset="-122"/>
                <a:cs typeface="Calibri" pitchFamily="34" charset="-120"/>
              </a:rPr>
              <a:t>Therapy denied → once depleted, the device can no longer pace at all</a:t>
            </a:r>
            <a:endParaRPr lang="en-US" sz="1300" dirty="0"/>
          </a:p>
        </p:txBody>
      </p:sp>
      <p:sp>
        <p:nvSpPr>
          <p:cNvPr id="26" name="Text 24"/>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FDEBEC"/>
          </a:solidFill>
          <a:ln/>
        </p:spPr>
      </p:sp>
      <p:sp>
        <p:nvSpPr>
          <p:cNvPr id="3" name="Shape 1"/>
          <p:cNvSpPr/>
          <p:nvPr/>
        </p:nvSpPr>
        <p:spPr>
          <a:xfrm>
            <a:off x="781812" y="662940"/>
            <a:ext cx="283464" cy="283464"/>
          </a:xfrm>
          <a:prstGeom prst="flowChartDecision">
            <a:avLst/>
          </a:prstGeom>
          <a:solidFill>
            <a:srgbClr val="FF4D5E"/>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PROBLEM STATEMENT</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Why a Directly-Reachable Implant Is the Vulnerability</a:t>
            </a:r>
            <a:endParaRPr lang="en-US" sz="3000" dirty="0"/>
          </a:p>
        </p:txBody>
      </p:sp>
      <p:sp>
        <p:nvSpPr>
          <p:cNvPr id="6" name="Text 4"/>
          <p:cNvSpPr/>
          <p:nvPr/>
        </p:nvSpPr>
        <p:spPr>
          <a:xfrm>
            <a:off x="640080" y="1691640"/>
            <a:ext cx="10881360" cy="777240"/>
          </a:xfrm>
          <a:prstGeom prst="rect">
            <a:avLst/>
          </a:prstGeom>
          <a:noFill/>
          <a:ln/>
        </p:spPr>
        <p:txBody>
          <a:bodyPr wrap="square" lIns="0" tIns="0" rIns="0" bIns="0" rtlCol="0" anchor="ctr"/>
          <a:lstStyle/>
          <a:p>
            <a:pPr indent="0" marL="0">
              <a:lnSpc>
                <a:spcPct val="130000"/>
              </a:lnSpc>
              <a:buNone/>
            </a:pPr>
            <a:r>
              <a:rPr lang="en-US" sz="1450" dirty="0">
                <a:solidFill>
                  <a:srgbClr val="121826"/>
                </a:solidFill>
                <a:latin typeface="Calibri" pitchFamily="34" charset="0"/>
                <a:ea typeface="Calibri" pitchFamily="34" charset="-122"/>
                <a:cs typeface="Calibri" pitchFamily="34" charset="-120"/>
              </a:rPr>
              <a:t>In a naive design, the implant's radio is reachable at any time by whatever can reach its link — a hospital server, an app, or an attacker who spoofs either. That link is the entire attack surface an energy depletion attack needs.</a:t>
            </a:r>
            <a:endParaRPr lang="en-US" sz="1450" dirty="0"/>
          </a:p>
        </p:txBody>
      </p:sp>
      <p:sp>
        <p:nvSpPr>
          <p:cNvPr id="7" name="Shape 5"/>
          <p:cNvSpPr/>
          <p:nvPr/>
        </p:nvSpPr>
        <p:spPr>
          <a:xfrm>
            <a:off x="640080" y="2834640"/>
            <a:ext cx="10908792" cy="2651760"/>
          </a:xfrm>
          <a:prstGeom prst="roundRect">
            <a:avLst>
              <a:gd name="adj" fmla="val 4138"/>
            </a:avLst>
          </a:prstGeom>
          <a:solidFill>
            <a:srgbClr val="FFFFFF"/>
          </a:solidFill>
          <a:ln/>
          <a:effectLst>
            <a:outerShdw sx="100000" sy="100000" kx="0" ky="0" algn="bl" rotWithShape="0" blurRad="127000" dist="38100" dir="5400000">
              <a:srgbClr val="1B2850">
                <a:alpha val="18000"/>
              </a:srgbClr>
            </a:outerShdw>
          </a:effectLst>
        </p:spPr>
      </p:sp>
      <p:sp>
        <p:nvSpPr>
          <p:cNvPr id="8" name="Shape 6"/>
          <p:cNvSpPr/>
          <p:nvPr/>
        </p:nvSpPr>
        <p:spPr>
          <a:xfrm>
            <a:off x="1188720" y="3657600"/>
            <a:ext cx="1005840" cy="1005840"/>
          </a:xfrm>
          <a:prstGeom prst="ellipse">
            <a:avLst/>
          </a:prstGeom>
          <a:solidFill>
            <a:srgbClr val="FDEBEC"/>
          </a:solidFill>
          <a:ln/>
        </p:spPr>
      </p:sp>
      <p:sp>
        <p:nvSpPr>
          <p:cNvPr id="9" name="Shape 7"/>
          <p:cNvSpPr/>
          <p:nvPr/>
        </p:nvSpPr>
        <p:spPr>
          <a:xfrm>
            <a:off x="1440180" y="3909060"/>
            <a:ext cx="502920" cy="502920"/>
          </a:xfrm>
          <a:prstGeom prst="lightningBolt">
            <a:avLst/>
          </a:prstGeom>
          <a:solidFill>
            <a:srgbClr val="FF4D5E"/>
          </a:solidFill>
          <a:ln/>
        </p:spPr>
      </p:sp>
      <p:sp>
        <p:nvSpPr>
          <p:cNvPr id="10" name="Text 8"/>
          <p:cNvSpPr/>
          <p:nvPr/>
        </p:nvSpPr>
        <p:spPr>
          <a:xfrm>
            <a:off x="777240" y="4754880"/>
            <a:ext cx="1828800" cy="320040"/>
          </a:xfrm>
          <a:prstGeom prst="rect">
            <a:avLst/>
          </a:prstGeom>
          <a:noFill/>
          <a:ln/>
        </p:spPr>
        <p:txBody>
          <a:bodyPr wrap="square" lIns="0" tIns="0" rIns="0" bIns="0" rtlCol="0" anchor="ctr"/>
          <a:lstStyle/>
          <a:p>
            <a:pPr algn="ctr" indent="0" marL="0">
              <a:buNone/>
            </a:pPr>
            <a:r>
              <a:rPr lang="en-US" sz="1300" b="1" dirty="0">
                <a:solidFill>
                  <a:srgbClr val="121826"/>
                </a:solidFill>
                <a:latin typeface="Cambria" pitchFamily="34" charset="0"/>
                <a:ea typeface="Cambria" pitchFamily="34" charset="-122"/>
                <a:cs typeface="Cambria" pitchFamily="34" charset="-120"/>
              </a:rPr>
              <a:t>Attacker</a:t>
            </a:r>
            <a:endParaRPr lang="en-US" sz="1300" dirty="0"/>
          </a:p>
        </p:txBody>
      </p:sp>
      <p:sp>
        <p:nvSpPr>
          <p:cNvPr id="11" name="Text 9"/>
          <p:cNvSpPr/>
          <p:nvPr/>
        </p:nvSpPr>
        <p:spPr>
          <a:xfrm>
            <a:off x="594360" y="5074920"/>
            <a:ext cx="2194560" cy="4572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spoofs or floods the link</a:t>
            </a:r>
            <a:endParaRPr lang="en-US" sz="1000" dirty="0"/>
          </a:p>
        </p:txBody>
      </p:sp>
      <p:sp>
        <p:nvSpPr>
          <p:cNvPr id="12" name="Shape 10"/>
          <p:cNvSpPr/>
          <p:nvPr/>
        </p:nvSpPr>
        <p:spPr>
          <a:xfrm>
            <a:off x="2331720" y="4160520"/>
            <a:ext cx="3840480" cy="914"/>
          </a:xfrm>
          <a:prstGeom prst="line">
            <a:avLst/>
          </a:prstGeom>
          <a:noFill/>
          <a:ln w="31750">
            <a:solidFill>
              <a:srgbClr val="FF4D5E"/>
            </a:solidFill>
            <a:prstDash val="dash"/>
          </a:ln>
        </p:spPr>
      </p:sp>
      <p:sp>
        <p:nvSpPr>
          <p:cNvPr id="13" name="Text 11"/>
          <p:cNvSpPr/>
          <p:nvPr/>
        </p:nvSpPr>
        <p:spPr>
          <a:xfrm>
            <a:off x="2331720" y="3675888"/>
            <a:ext cx="3840480" cy="320040"/>
          </a:xfrm>
          <a:prstGeom prst="rect">
            <a:avLst/>
          </a:prstGeom>
          <a:noFill/>
          <a:ln/>
        </p:spPr>
        <p:txBody>
          <a:bodyPr wrap="square" lIns="0" tIns="0" rIns="0" bIns="0" rtlCol="0" anchor="ctr"/>
          <a:lstStyle/>
          <a:p>
            <a:pPr algn="ctr" indent="0" marL="0">
              <a:buNone/>
            </a:pPr>
            <a:r>
              <a:rPr lang="en-US" sz="1050" i="1" dirty="0">
                <a:solidFill>
                  <a:srgbClr val="FF4D5E"/>
                </a:solidFill>
                <a:latin typeface="Calibri" pitchFamily="34" charset="0"/>
                <a:ea typeface="Calibri" pitchFamily="34" charset="-122"/>
                <a:cs typeface="Calibri" pitchFamily="34" charset="-120"/>
              </a:rPr>
              <a:t>always-open / always-reachable link</a:t>
            </a:r>
            <a:endParaRPr lang="en-US" sz="1050" dirty="0"/>
          </a:p>
        </p:txBody>
      </p:sp>
      <p:sp>
        <p:nvSpPr>
          <p:cNvPr id="14" name="Shape 12"/>
          <p:cNvSpPr/>
          <p:nvPr/>
        </p:nvSpPr>
        <p:spPr>
          <a:xfrm>
            <a:off x="6400800" y="3657600"/>
            <a:ext cx="1005840" cy="1005840"/>
          </a:xfrm>
          <a:prstGeom prst="ellipse">
            <a:avLst/>
          </a:prstGeom>
          <a:solidFill>
            <a:srgbClr val="FDEBEC"/>
          </a:solidFill>
          <a:ln/>
        </p:spPr>
      </p:sp>
      <p:sp>
        <p:nvSpPr>
          <p:cNvPr id="15" name="Shape 13"/>
          <p:cNvSpPr/>
          <p:nvPr/>
        </p:nvSpPr>
        <p:spPr>
          <a:xfrm>
            <a:off x="6652260" y="3909060"/>
            <a:ext cx="502920" cy="502920"/>
          </a:xfrm>
          <a:prstGeom prst="heart">
            <a:avLst/>
          </a:prstGeom>
          <a:solidFill>
            <a:srgbClr val="FF4D5E"/>
          </a:solidFill>
          <a:ln/>
        </p:spPr>
      </p:sp>
      <p:sp>
        <p:nvSpPr>
          <p:cNvPr id="16" name="Text 14"/>
          <p:cNvSpPr/>
          <p:nvPr/>
        </p:nvSpPr>
        <p:spPr>
          <a:xfrm>
            <a:off x="5989320" y="4754880"/>
            <a:ext cx="1828800" cy="320040"/>
          </a:xfrm>
          <a:prstGeom prst="rect">
            <a:avLst/>
          </a:prstGeom>
          <a:noFill/>
          <a:ln/>
        </p:spPr>
        <p:txBody>
          <a:bodyPr wrap="square" lIns="0" tIns="0" rIns="0" bIns="0" rtlCol="0" anchor="ctr"/>
          <a:lstStyle/>
          <a:p>
            <a:pPr algn="ctr" indent="0" marL="0">
              <a:buNone/>
            </a:pPr>
            <a:r>
              <a:rPr lang="en-US" sz="1300" b="1" dirty="0">
                <a:solidFill>
                  <a:srgbClr val="121826"/>
                </a:solidFill>
                <a:latin typeface="Cambria" pitchFamily="34" charset="0"/>
                <a:ea typeface="Cambria" pitchFamily="34" charset="-122"/>
                <a:cs typeface="Cambria" pitchFamily="34" charset="-120"/>
              </a:rPr>
              <a:t>Pacemaker</a:t>
            </a:r>
            <a:endParaRPr lang="en-US" sz="1300" dirty="0"/>
          </a:p>
        </p:txBody>
      </p:sp>
      <p:sp>
        <p:nvSpPr>
          <p:cNvPr id="17" name="Text 15"/>
          <p:cNvSpPr/>
          <p:nvPr/>
        </p:nvSpPr>
        <p:spPr>
          <a:xfrm>
            <a:off x="5806440" y="5074920"/>
            <a:ext cx="2194560" cy="457200"/>
          </a:xfrm>
          <a:prstGeom prst="rect">
            <a:avLst/>
          </a:prstGeom>
          <a:noFill/>
          <a:ln/>
        </p:spPr>
        <p:txBody>
          <a:bodyPr wrap="square" lIns="0" tIns="0" rIns="0" bIns="0" rtlCol="0" anchor="ctr"/>
          <a:lstStyle/>
          <a:p>
            <a:pPr algn="ctr" indent="0" marL="0">
              <a:buNone/>
            </a:pPr>
            <a:r>
              <a:rPr lang="en-US" sz="1000" dirty="0">
                <a:solidFill>
                  <a:srgbClr val="5B6478"/>
                </a:solidFill>
                <a:latin typeface="Calibri" pitchFamily="34" charset="0"/>
                <a:ea typeface="Calibri" pitchFamily="34" charset="-122"/>
                <a:cs typeface="Calibri" pitchFamily="34" charset="-120"/>
              </a:rPr>
              <a:t>radio wakes for every request</a:t>
            </a:r>
            <a:endParaRPr lang="en-US" sz="1000" dirty="0"/>
          </a:p>
        </p:txBody>
      </p:sp>
      <p:sp>
        <p:nvSpPr>
          <p:cNvPr id="18" name="Text 16"/>
          <p:cNvSpPr/>
          <p:nvPr/>
        </p:nvSpPr>
        <p:spPr>
          <a:xfrm>
            <a:off x="8686800" y="3703320"/>
            <a:ext cx="2651760" cy="1645920"/>
          </a:xfrm>
          <a:prstGeom prst="rect">
            <a:avLst/>
          </a:prstGeom>
          <a:noFill/>
          <a:ln/>
        </p:spPr>
        <p:txBody>
          <a:bodyPr wrap="square" lIns="0" tIns="0" rIns="0" bIns="0" rtlCol="0" anchor="ctr"/>
          <a:lstStyle/>
          <a:p>
            <a:pPr algn="l" indent="0" marL="0">
              <a:lnSpc>
                <a:spcPct val="125000"/>
              </a:lnSpc>
              <a:buNone/>
            </a:pPr>
            <a:r>
              <a:rPr lang="en-US" sz="1400" b="1" dirty="0">
                <a:solidFill>
                  <a:srgbClr val="121826"/>
                </a:solidFill>
                <a:latin typeface="Calibri" pitchFamily="34" charset="0"/>
                <a:ea typeface="Calibri" pitchFamily="34" charset="-122"/>
                <a:cs typeface="Calibri" pitchFamily="34" charset="-120"/>
              </a:rPr>
              <a:t>No isolation boundary
</a:t>
            </a:r>
            <a:pPr algn="l" indent="0" marL="0">
              <a:lnSpc>
                <a:spcPct val="125000"/>
              </a:lnSpc>
              <a:buNone/>
            </a:pPr>
            <a:r>
              <a:rPr lang="en-US" sz="1200" dirty="0">
                <a:solidFill>
                  <a:srgbClr val="5B6478"/>
                </a:solidFill>
                <a:latin typeface="Calibri" pitchFamily="34" charset="0"/>
                <a:ea typeface="Calibri" pitchFamily="34" charset="-122"/>
                <a:cs typeface="Calibri" pitchFamily="34" charset="-120"/>
              </a:rPr>
              <a:t>means no limit on how often, or by whom, the implant's radio can be triggered.</a:t>
            </a:r>
            <a:endParaRPr lang="en-US" sz="1400" dirty="0"/>
          </a:p>
        </p:txBody>
      </p:sp>
      <p:sp>
        <p:nvSpPr>
          <p:cNvPr id="19" name="Text 17"/>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141F3D"/>
          </a:solidFill>
          <a:ln/>
        </p:spPr>
      </p:sp>
      <p:sp>
        <p:nvSpPr>
          <p:cNvPr id="3" name="Shape 1"/>
          <p:cNvSpPr/>
          <p:nvPr/>
        </p:nvSpPr>
        <p:spPr>
          <a:xfrm>
            <a:off x="781812" y="662940"/>
            <a:ext cx="283464" cy="283464"/>
          </a:xfrm>
          <a:prstGeom prst="hexagon">
            <a:avLst/>
          </a:prstGeom>
          <a:solidFill>
            <a:srgbClr val="C3C8FC"/>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C3C8FC"/>
                </a:solidFill>
                <a:latin typeface="Calibri" pitchFamily="34" charset="0"/>
                <a:ea typeface="Calibri" pitchFamily="34" charset="-122"/>
                <a:cs typeface="Calibri" pitchFamily="34" charset="-120"/>
              </a:rPr>
              <a:t>OUR APPROACH</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F5F6FC"/>
                </a:solidFill>
                <a:latin typeface="Cambria" pitchFamily="34" charset="0"/>
                <a:ea typeface="Cambria" pitchFamily="34" charset="-122"/>
                <a:cs typeface="Cambria" pitchFamily="34" charset="-120"/>
              </a:rPr>
              <a:t>Isolate the Pacemaker, Not Just Secure It</a:t>
            </a:r>
            <a:endParaRPr lang="en-US" sz="3000" dirty="0"/>
          </a:p>
        </p:txBody>
      </p:sp>
      <p:sp>
        <p:nvSpPr>
          <p:cNvPr id="6" name="Text 4"/>
          <p:cNvSpPr/>
          <p:nvPr/>
        </p:nvSpPr>
        <p:spPr>
          <a:xfrm>
            <a:off x="640080" y="1691640"/>
            <a:ext cx="10881360" cy="868680"/>
          </a:xfrm>
          <a:prstGeom prst="rect">
            <a:avLst/>
          </a:prstGeom>
          <a:noFill/>
          <a:ln/>
        </p:spPr>
        <p:txBody>
          <a:bodyPr wrap="square" lIns="0" tIns="0" rIns="0" bIns="0" rtlCol="0" anchor="ctr"/>
          <a:lstStyle/>
          <a:p>
            <a:pPr indent="0" marL="0">
              <a:lnSpc>
                <a:spcPct val="130000"/>
              </a:lnSpc>
              <a:buNone/>
            </a:pPr>
            <a:r>
              <a:rPr lang="en-US" sz="1450" dirty="0">
                <a:solidFill>
                  <a:srgbClr val="9AA3C7"/>
                </a:solidFill>
                <a:latin typeface="Calibri" pitchFamily="34" charset="0"/>
                <a:ea typeface="Calibri" pitchFamily="34" charset="-122"/>
                <a:cs typeface="Calibri" pitchFamily="34" charset="-120"/>
              </a:rPr>
              <a:t>Our system never lets the implant be directly reachable by the hospital server, the internet, or an app running on someone else's phone. The only party that can ever reach it is the patient's own paired phone — and only for a fraction of a second, on a schedule.</a:t>
            </a:r>
            <a:endParaRPr lang="en-US" sz="1450" dirty="0"/>
          </a:p>
        </p:txBody>
      </p:sp>
      <p:sp>
        <p:nvSpPr>
          <p:cNvPr id="7" name="Shape 5"/>
          <p:cNvSpPr/>
          <p:nvPr/>
        </p:nvSpPr>
        <p:spPr>
          <a:xfrm>
            <a:off x="640080" y="2743200"/>
            <a:ext cx="5212080" cy="3383280"/>
          </a:xfrm>
          <a:prstGeom prst="roundRect">
            <a:avLst>
              <a:gd name="adj" fmla="val 2703"/>
            </a:avLst>
          </a:prstGeom>
          <a:solidFill>
            <a:srgbClr val="241723"/>
          </a:solidFill>
          <a:ln w="12700">
            <a:solidFill>
              <a:srgbClr val="FF4D5E"/>
            </a:solidFill>
            <a:prstDash val="solid"/>
          </a:ln>
        </p:spPr>
      </p:sp>
      <p:sp>
        <p:nvSpPr>
          <p:cNvPr id="8" name="Text 6"/>
          <p:cNvSpPr/>
          <p:nvPr/>
        </p:nvSpPr>
        <p:spPr>
          <a:xfrm>
            <a:off x="914400" y="2944368"/>
            <a:ext cx="4663440" cy="320040"/>
          </a:xfrm>
          <a:prstGeom prst="rect">
            <a:avLst/>
          </a:prstGeom>
          <a:noFill/>
          <a:ln/>
        </p:spPr>
        <p:txBody>
          <a:bodyPr wrap="square" lIns="0" tIns="0" rIns="0" bIns="0" rtlCol="0" anchor="ctr"/>
          <a:lstStyle/>
          <a:p>
            <a:pPr indent="0" marL="0">
              <a:buNone/>
            </a:pPr>
            <a:r>
              <a:rPr lang="en-US" sz="1200" b="1" spc="200" kern="0" dirty="0">
                <a:solidFill>
                  <a:srgbClr val="FF4D5E"/>
                </a:solidFill>
                <a:latin typeface="Calibri" pitchFamily="34" charset="0"/>
                <a:ea typeface="Calibri" pitchFamily="34" charset="-122"/>
                <a:cs typeface="Calibri" pitchFamily="34" charset="-120"/>
              </a:rPr>
              <a:t>BEFORE — Direct Link</a:t>
            </a:r>
            <a:endParaRPr lang="en-US" sz="1200" dirty="0"/>
          </a:p>
        </p:txBody>
      </p:sp>
      <p:sp>
        <p:nvSpPr>
          <p:cNvPr id="9" name="Text 7"/>
          <p:cNvSpPr/>
          <p:nvPr/>
        </p:nvSpPr>
        <p:spPr>
          <a:xfrm>
            <a:off x="914400" y="3383280"/>
            <a:ext cx="4663440" cy="24688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Implant radio reachable continuously</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Anything that reaches the link can trigger it</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No cap on request frequency</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Attack window: effectively unlimited</a:t>
            </a:r>
            <a:endParaRPr lang="en-US" sz="1300" dirty="0"/>
          </a:p>
        </p:txBody>
      </p:sp>
      <p:sp>
        <p:nvSpPr>
          <p:cNvPr id="10" name="Shape 8"/>
          <p:cNvSpPr/>
          <p:nvPr/>
        </p:nvSpPr>
        <p:spPr>
          <a:xfrm>
            <a:off x="6172200" y="2743200"/>
            <a:ext cx="5212080" cy="3383280"/>
          </a:xfrm>
          <a:prstGeom prst="roundRect">
            <a:avLst>
              <a:gd name="adj" fmla="val 2703"/>
            </a:avLst>
          </a:prstGeom>
          <a:solidFill>
            <a:srgbClr val="141F3D"/>
          </a:solidFill>
          <a:ln w="12700">
            <a:solidFill>
              <a:srgbClr val="C3C8FC"/>
            </a:solidFill>
            <a:prstDash val="solid"/>
          </a:ln>
        </p:spPr>
      </p:sp>
      <p:sp>
        <p:nvSpPr>
          <p:cNvPr id="11" name="Text 9"/>
          <p:cNvSpPr/>
          <p:nvPr/>
        </p:nvSpPr>
        <p:spPr>
          <a:xfrm>
            <a:off x="6446520" y="2944368"/>
            <a:ext cx="4663440" cy="320040"/>
          </a:xfrm>
          <a:prstGeom prst="rect">
            <a:avLst/>
          </a:prstGeom>
          <a:noFill/>
          <a:ln/>
        </p:spPr>
        <p:txBody>
          <a:bodyPr wrap="square" lIns="0" tIns="0" rIns="0" bIns="0" rtlCol="0" anchor="ctr"/>
          <a:lstStyle/>
          <a:p>
            <a:pPr indent="0" marL="0">
              <a:buNone/>
            </a:pPr>
            <a:r>
              <a:rPr lang="en-US" sz="1200" b="1" spc="200" kern="0" dirty="0">
                <a:solidFill>
                  <a:srgbClr val="C3C8FC"/>
                </a:solidFill>
                <a:latin typeface="Calibri" pitchFamily="34" charset="0"/>
                <a:ea typeface="Calibri" pitchFamily="34" charset="-122"/>
                <a:cs typeface="Calibri" pitchFamily="34" charset="-120"/>
              </a:rPr>
              <a:t>AFTER — Isolated Relay</a:t>
            </a:r>
            <a:endParaRPr lang="en-US" sz="1200" dirty="0"/>
          </a:p>
        </p:txBody>
      </p:sp>
      <p:sp>
        <p:nvSpPr>
          <p:cNvPr id="12" name="Text 10"/>
          <p:cNvSpPr/>
          <p:nvPr/>
        </p:nvSpPr>
        <p:spPr>
          <a:xfrm>
            <a:off x="6446520" y="3383280"/>
            <a:ext cx="4663440" cy="2468880"/>
          </a:xfrm>
          <a:prstGeom prst="rect">
            <a:avLst/>
          </a:prstGeom>
          <a:noFill/>
          <a:ln/>
        </p:spPr>
        <p:txBody>
          <a:bodyPr wrap="square" lIns="0" tIns="0" rIns="0" bIns="0" rtlCol="0" anchor="ctr"/>
          <a:lstStyle/>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Implant radio idle/advertising-only by default</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Only the one paired phone can ever open a session</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Session self-closes in well under 1s, hard-capped at 5s</a:t>
            </a:r>
            <a:endParaRPr lang="en-US" sz="1300" dirty="0"/>
          </a:p>
          <a:p>
            <a:pPr marL="342900" indent="-342900">
              <a:lnSpc>
                <a:spcPct val="120000"/>
              </a:lnSpc>
              <a:spcAft>
                <a:spcPts val="1000"/>
              </a:spcAft>
              <a:buSzPct val="100000"/>
              <a:buChar char="•"/>
            </a:pPr>
            <a:r>
              <a:rPr lang="en-US" sz="1300" dirty="0">
                <a:solidFill>
                  <a:srgbClr val="F5F6FC"/>
                </a:solidFill>
                <a:latin typeface="Calibri" pitchFamily="34" charset="0"/>
                <a:ea typeface="Calibri" pitchFamily="34" charset="-122"/>
                <a:cs typeface="Calibri" pitchFamily="34" charset="-120"/>
              </a:rPr>
              <a:t>Attack window: ~1s every 30 minutes</a:t>
            </a:r>
            <a:endParaRPr lang="en-US" sz="1300" dirty="0"/>
          </a:p>
        </p:txBody>
      </p:sp>
      <p:sp>
        <p:nvSpPr>
          <p:cNvPr id="13" name="Text 11"/>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E7E9FB"/>
          </a:solidFill>
          <a:ln/>
        </p:spPr>
      </p:sp>
      <p:sp>
        <p:nvSpPr>
          <p:cNvPr id="3" name="Shape 1"/>
          <p:cNvSpPr/>
          <p:nvPr/>
        </p:nvSpPr>
        <p:spPr>
          <a:xfrm>
            <a:off x="781812" y="662940"/>
            <a:ext cx="283464" cy="283464"/>
          </a:xfrm>
          <a:prstGeom prst="gear6">
            <a:avLst/>
          </a:prstGeom>
          <a:solidFill>
            <a:srgbClr val="5C63B8"/>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SYSTEM DESIGN</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System Architecture</a:t>
            </a:r>
            <a:endParaRPr lang="en-US" sz="3000" dirty="0"/>
          </a:p>
        </p:txBody>
      </p:sp>
      <p:sp>
        <p:nvSpPr>
          <p:cNvPr id="6" name="Shape 4"/>
          <p:cNvSpPr/>
          <p:nvPr/>
        </p:nvSpPr>
        <p:spPr>
          <a:xfrm>
            <a:off x="640080" y="1920240"/>
            <a:ext cx="914400" cy="914400"/>
          </a:xfrm>
          <a:prstGeom prst="ellipse">
            <a:avLst/>
          </a:prstGeom>
          <a:solidFill>
            <a:srgbClr val="E7E9FB"/>
          </a:solidFill>
          <a:ln/>
        </p:spPr>
      </p:sp>
      <p:sp>
        <p:nvSpPr>
          <p:cNvPr id="7" name="Shape 5"/>
          <p:cNvSpPr/>
          <p:nvPr/>
        </p:nvSpPr>
        <p:spPr>
          <a:xfrm>
            <a:off x="877824" y="2157984"/>
            <a:ext cx="438912" cy="438912"/>
          </a:xfrm>
          <a:prstGeom prst="flowChartTerminator">
            <a:avLst/>
          </a:prstGeom>
          <a:solidFill>
            <a:srgbClr val="5C63B8"/>
          </a:solidFill>
          <a:ln/>
        </p:spPr>
      </p:sp>
      <p:sp>
        <p:nvSpPr>
          <p:cNvPr id="8" name="Text 6"/>
          <p:cNvSpPr/>
          <p:nvPr/>
        </p:nvSpPr>
        <p:spPr>
          <a:xfrm>
            <a:off x="320040" y="2907792"/>
            <a:ext cx="155448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121826"/>
                </a:solidFill>
                <a:latin typeface="Cambria" pitchFamily="34" charset="0"/>
                <a:ea typeface="Cambria" pitchFamily="34" charset="-122"/>
                <a:cs typeface="Cambria" pitchFamily="34" charset="-120"/>
              </a:rPr>
              <a:t>Hospital Web App</a:t>
            </a:r>
            <a:endParaRPr lang="en-US" sz="1250" dirty="0"/>
          </a:p>
        </p:txBody>
      </p:sp>
      <p:sp>
        <p:nvSpPr>
          <p:cNvPr id="9" name="Text 7"/>
          <p:cNvSpPr/>
          <p:nvPr/>
        </p:nvSpPr>
        <p:spPr>
          <a:xfrm>
            <a:off x="228600" y="3401568"/>
            <a:ext cx="1737360" cy="640080"/>
          </a:xfrm>
          <a:prstGeom prst="rect">
            <a:avLst/>
          </a:prstGeom>
          <a:noFill/>
          <a:ln/>
        </p:spPr>
        <p:txBody>
          <a:bodyPr wrap="square" lIns="0" tIns="0" rIns="0" bIns="0" rtlCol="0" anchor="ctr"/>
          <a:lstStyle/>
          <a:p>
            <a:pPr algn="ctr" indent="0" marL="0">
              <a:lnSpc>
                <a:spcPct val="115000"/>
              </a:lnSpc>
              <a:buNone/>
            </a:pPr>
            <a:r>
              <a:rPr lang="en-US" sz="900" dirty="0">
                <a:solidFill>
                  <a:srgbClr val="5B6478"/>
                </a:solidFill>
                <a:latin typeface="Calibri" pitchFamily="34" charset="0"/>
                <a:ea typeface="Calibri" pitchFamily="34" charset="-122"/>
                <a:cs typeface="Calibri" pitchFamily="34" charset="-120"/>
              </a:rPr>
              <a:t>doctor: register, prescribe voltage, view readings</a:t>
            </a:r>
            <a:endParaRPr lang="en-US" sz="900" dirty="0"/>
          </a:p>
        </p:txBody>
      </p:sp>
      <p:sp>
        <p:nvSpPr>
          <p:cNvPr id="10" name="Shape 8"/>
          <p:cNvSpPr/>
          <p:nvPr/>
        </p:nvSpPr>
        <p:spPr>
          <a:xfrm>
            <a:off x="1609344" y="2249424"/>
            <a:ext cx="2496312" cy="256032"/>
          </a:xfrm>
          <a:prstGeom prst="rightArrow">
            <a:avLst/>
          </a:prstGeom>
          <a:solidFill>
            <a:srgbClr val="C7CBE8"/>
          </a:solidFill>
          <a:ln/>
        </p:spPr>
      </p:sp>
      <p:sp>
        <p:nvSpPr>
          <p:cNvPr id="11" name="Shape 9"/>
          <p:cNvSpPr/>
          <p:nvPr/>
        </p:nvSpPr>
        <p:spPr>
          <a:xfrm>
            <a:off x="3520440" y="1920240"/>
            <a:ext cx="914400" cy="914400"/>
          </a:xfrm>
          <a:prstGeom prst="ellipse">
            <a:avLst/>
          </a:prstGeom>
          <a:solidFill>
            <a:srgbClr val="E7E9FB"/>
          </a:solidFill>
          <a:ln/>
        </p:spPr>
      </p:sp>
      <p:sp>
        <p:nvSpPr>
          <p:cNvPr id="12" name="Shape 10"/>
          <p:cNvSpPr/>
          <p:nvPr/>
        </p:nvSpPr>
        <p:spPr>
          <a:xfrm>
            <a:off x="3758184" y="2157984"/>
            <a:ext cx="438912" cy="438912"/>
          </a:xfrm>
          <a:prstGeom prst="can">
            <a:avLst/>
          </a:prstGeom>
          <a:solidFill>
            <a:srgbClr val="5C63B8"/>
          </a:solidFill>
          <a:ln/>
        </p:spPr>
      </p:sp>
      <p:sp>
        <p:nvSpPr>
          <p:cNvPr id="13" name="Text 11"/>
          <p:cNvSpPr/>
          <p:nvPr/>
        </p:nvSpPr>
        <p:spPr>
          <a:xfrm>
            <a:off x="3200400" y="2907792"/>
            <a:ext cx="155448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121826"/>
                </a:solidFill>
                <a:latin typeface="Cambria" pitchFamily="34" charset="0"/>
                <a:ea typeface="Cambria" pitchFamily="34" charset="-122"/>
                <a:cs typeface="Cambria" pitchFamily="34" charset="-120"/>
              </a:rPr>
              <a:t>Django Server</a:t>
            </a:r>
            <a:endParaRPr lang="en-US" sz="1250" dirty="0"/>
          </a:p>
        </p:txBody>
      </p:sp>
      <p:sp>
        <p:nvSpPr>
          <p:cNvPr id="14" name="Text 12"/>
          <p:cNvSpPr/>
          <p:nvPr/>
        </p:nvSpPr>
        <p:spPr>
          <a:xfrm>
            <a:off x="3108960" y="3401568"/>
            <a:ext cx="1737360" cy="640080"/>
          </a:xfrm>
          <a:prstGeom prst="rect">
            <a:avLst/>
          </a:prstGeom>
          <a:noFill/>
          <a:ln/>
        </p:spPr>
        <p:txBody>
          <a:bodyPr wrap="square" lIns="0" tIns="0" rIns="0" bIns="0" rtlCol="0" anchor="ctr"/>
          <a:lstStyle/>
          <a:p>
            <a:pPr algn="ctr" indent="0" marL="0">
              <a:lnSpc>
                <a:spcPct val="115000"/>
              </a:lnSpc>
              <a:buNone/>
            </a:pPr>
            <a:r>
              <a:rPr lang="en-US" sz="900" dirty="0">
                <a:solidFill>
                  <a:srgbClr val="5B6478"/>
                </a:solidFill>
                <a:latin typeface="Calibri" pitchFamily="34" charset="0"/>
                <a:ea typeface="Calibri" pitchFamily="34" charset="-122"/>
                <a:cs typeface="Calibri" pitchFamily="34" charset="-120"/>
              </a:rPr>
              <a:t>token auth • queued voltage • heart-rate store</a:t>
            </a:r>
            <a:endParaRPr lang="en-US" sz="900" dirty="0"/>
          </a:p>
        </p:txBody>
      </p:sp>
      <p:sp>
        <p:nvSpPr>
          <p:cNvPr id="15" name="Shape 13"/>
          <p:cNvSpPr/>
          <p:nvPr/>
        </p:nvSpPr>
        <p:spPr>
          <a:xfrm>
            <a:off x="4489704" y="2249424"/>
            <a:ext cx="2496312" cy="256032"/>
          </a:xfrm>
          <a:prstGeom prst="rightArrow">
            <a:avLst/>
          </a:prstGeom>
          <a:solidFill>
            <a:srgbClr val="C7CBE8"/>
          </a:solidFill>
          <a:ln/>
        </p:spPr>
      </p:sp>
      <p:sp>
        <p:nvSpPr>
          <p:cNvPr id="16" name="Shape 14"/>
          <p:cNvSpPr/>
          <p:nvPr/>
        </p:nvSpPr>
        <p:spPr>
          <a:xfrm>
            <a:off x="6400800" y="1920240"/>
            <a:ext cx="914400" cy="914400"/>
          </a:xfrm>
          <a:prstGeom prst="ellipse">
            <a:avLst/>
          </a:prstGeom>
          <a:solidFill>
            <a:srgbClr val="E7E9FB"/>
          </a:solidFill>
          <a:ln/>
        </p:spPr>
      </p:sp>
      <p:sp>
        <p:nvSpPr>
          <p:cNvPr id="17" name="Shape 15"/>
          <p:cNvSpPr/>
          <p:nvPr/>
        </p:nvSpPr>
        <p:spPr>
          <a:xfrm>
            <a:off x="6638544" y="2157984"/>
            <a:ext cx="438912" cy="438912"/>
          </a:xfrm>
          <a:prstGeom prst="gear6">
            <a:avLst/>
          </a:prstGeom>
          <a:solidFill>
            <a:srgbClr val="5C63B8"/>
          </a:solidFill>
          <a:ln/>
        </p:spPr>
      </p:sp>
      <p:sp>
        <p:nvSpPr>
          <p:cNvPr id="18" name="Text 16"/>
          <p:cNvSpPr/>
          <p:nvPr/>
        </p:nvSpPr>
        <p:spPr>
          <a:xfrm>
            <a:off x="6080760" y="2907792"/>
            <a:ext cx="155448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121826"/>
                </a:solidFill>
                <a:latin typeface="Cambria" pitchFamily="34" charset="0"/>
                <a:ea typeface="Cambria" pitchFamily="34" charset="-122"/>
                <a:cs typeface="Cambria" pitchFamily="34" charset="-120"/>
              </a:rPr>
              <a:t>Patient Mobile App</a:t>
            </a:r>
            <a:endParaRPr lang="en-US" sz="1250" dirty="0"/>
          </a:p>
        </p:txBody>
      </p:sp>
      <p:sp>
        <p:nvSpPr>
          <p:cNvPr id="19" name="Text 17"/>
          <p:cNvSpPr/>
          <p:nvPr/>
        </p:nvSpPr>
        <p:spPr>
          <a:xfrm>
            <a:off x="5989320" y="3401568"/>
            <a:ext cx="1737360" cy="640080"/>
          </a:xfrm>
          <a:prstGeom prst="rect">
            <a:avLst/>
          </a:prstGeom>
          <a:noFill/>
          <a:ln/>
        </p:spPr>
        <p:txBody>
          <a:bodyPr wrap="square" lIns="0" tIns="0" rIns="0" bIns="0" rtlCol="0" anchor="ctr"/>
          <a:lstStyle/>
          <a:p>
            <a:pPr algn="ctr" indent="0" marL="0">
              <a:lnSpc>
                <a:spcPct val="115000"/>
              </a:lnSpc>
              <a:buNone/>
            </a:pPr>
            <a:r>
              <a:rPr lang="en-US" sz="900" dirty="0">
                <a:solidFill>
                  <a:srgbClr val="5B6478"/>
                </a:solidFill>
                <a:latin typeface="Calibri" pitchFamily="34" charset="0"/>
                <a:ea typeface="Calibri" pitchFamily="34" charset="-122"/>
                <a:cs typeface="Calibri" pitchFamily="34" charset="-120"/>
              </a:rPr>
              <a:t>Expo / React Native • 30-min sync cycle</a:t>
            </a:r>
            <a:endParaRPr lang="en-US" sz="900" dirty="0"/>
          </a:p>
        </p:txBody>
      </p:sp>
      <p:sp>
        <p:nvSpPr>
          <p:cNvPr id="20" name="Shape 18"/>
          <p:cNvSpPr/>
          <p:nvPr/>
        </p:nvSpPr>
        <p:spPr>
          <a:xfrm>
            <a:off x="7370064" y="2249424"/>
            <a:ext cx="2496312" cy="256032"/>
          </a:xfrm>
          <a:prstGeom prst="rightArrow">
            <a:avLst/>
          </a:prstGeom>
          <a:solidFill>
            <a:srgbClr val="C3C8FC"/>
          </a:solidFill>
          <a:ln/>
        </p:spPr>
      </p:sp>
      <p:sp>
        <p:nvSpPr>
          <p:cNvPr id="21" name="Text 19"/>
          <p:cNvSpPr/>
          <p:nvPr/>
        </p:nvSpPr>
        <p:spPr>
          <a:xfrm>
            <a:off x="7370064" y="1874520"/>
            <a:ext cx="2560320" cy="274320"/>
          </a:xfrm>
          <a:prstGeom prst="rect">
            <a:avLst/>
          </a:prstGeom>
          <a:noFill/>
          <a:ln/>
        </p:spPr>
        <p:txBody>
          <a:bodyPr wrap="square" lIns="0" tIns="0" rIns="0" bIns="0" rtlCol="0" anchor="ctr"/>
          <a:lstStyle/>
          <a:p>
            <a:pPr algn="ctr" indent="0" marL="0">
              <a:buNone/>
            </a:pPr>
            <a:r>
              <a:rPr lang="en-US" sz="900" i="1" dirty="0">
                <a:solidFill>
                  <a:srgbClr val="5C63B8"/>
                </a:solidFill>
                <a:latin typeface="Calibri" pitchFamily="34" charset="0"/>
                <a:ea typeface="Calibri" pitchFamily="34" charset="-122"/>
                <a:cs typeface="Calibri" pitchFamily="34" charset="-120"/>
              </a:rPr>
              <a:t>transient link</a:t>
            </a:r>
            <a:endParaRPr lang="en-US" sz="900" dirty="0"/>
          </a:p>
        </p:txBody>
      </p:sp>
      <p:sp>
        <p:nvSpPr>
          <p:cNvPr id="22" name="Shape 20"/>
          <p:cNvSpPr/>
          <p:nvPr/>
        </p:nvSpPr>
        <p:spPr>
          <a:xfrm>
            <a:off x="9281160" y="1920240"/>
            <a:ext cx="914400" cy="914400"/>
          </a:xfrm>
          <a:prstGeom prst="ellipse">
            <a:avLst/>
          </a:prstGeom>
          <a:solidFill>
            <a:srgbClr val="FDEBEC"/>
          </a:solidFill>
          <a:ln/>
        </p:spPr>
      </p:sp>
      <p:sp>
        <p:nvSpPr>
          <p:cNvPr id="23" name="Shape 21"/>
          <p:cNvSpPr/>
          <p:nvPr/>
        </p:nvSpPr>
        <p:spPr>
          <a:xfrm>
            <a:off x="9518904" y="2157984"/>
            <a:ext cx="438912" cy="438912"/>
          </a:xfrm>
          <a:prstGeom prst="heart">
            <a:avLst/>
          </a:prstGeom>
          <a:solidFill>
            <a:srgbClr val="FF4D5E"/>
          </a:solidFill>
          <a:ln/>
        </p:spPr>
      </p:sp>
      <p:sp>
        <p:nvSpPr>
          <p:cNvPr id="24" name="Text 22"/>
          <p:cNvSpPr/>
          <p:nvPr/>
        </p:nvSpPr>
        <p:spPr>
          <a:xfrm>
            <a:off x="8961120" y="2907792"/>
            <a:ext cx="1554480" cy="502920"/>
          </a:xfrm>
          <a:prstGeom prst="rect">
            <a:avLst/>
          </a:prstGeom>
          <a:noFill/>
          <a:ln/>
        </p:spPr>
        <p:txBody>
          <a:bodyPr wrap="square" lIns="0" tIns="0" rIns="0" bIns="0" rtlCol="0" anchor="ctr"/>
          <a:lstStyle/>
          <a:p>
            <a:pPr algn="ctr" indent="0" marL="0">
              <a:lnSpc>
                <a:spcPct val="105000"/>
              </a:lnSpc>
              <a:buNone/>
            </a:pPr>
            <a:r>
              <a:rPr lang="en-US" sz="1250" b="1" dirty="0">
                <a:solidFill>
                  <a:srgbClr val="121826"/>
                </a:solidFill>
                <a:latin typeface="Cambria" pitchFamily="34" charset="0"/>
                <a:ea typeface="Cambria" pitchFamily="34" charset="-122"/>
                <a:cs typeface="Cambria" pitchFamily="34" charset="-120"/>
              </a:rPr>
              <a:t>Pacemaker</a:t>
            </a:r>
            <a:endParaRPr lang="en-US" sz="1250" dirty="0"/>
          </a:p>
        </p:txBody>
      </p:sp>
      <p:sp>
        <p:nvSpPr>
          <p:cNvPr id="25" name="Text 23"/>
          <p:cNvSpPr/>
          <p:nvPr/>
        </p:nvSpPr>
        <p:spPr>
          <a:xfrm>
            <a:off x="8869680" y="3401568"/>
            <a:ext cx="1737360" cy="640080"/>
          </a:xfrm>
          <a:prstGeom prst="rect">
            <a:avLst/>
          </a:prstGeom>
          <a:noFill/>
          <a:ln/>
        </p:spPr>
        <p:txBody>
          <a:bodyPr wrap="square" lIns="0" tIns="0" rIns="0" bIns="0" rtlCol="0" anchor="ctr"/>
          <a:lstStyle/>
          <a:p>
            <a:pPr algn="ctr" indent="0" marL="0">
              <a:lnSpc>
                <a:spcPct val="115000"/>
              </a:lnSpc>
              <a:buNone/>
            </a:pPr>
            <a:r>
              <a:rPr lang="en-US" sz="900" dirty="0">
                <a:solidFill>
                  <a:srgbClr val="5B6478"/>
                </a:solidFill>
                <a:latin typeface="Calibri" pitchFamily="34" charset="0"/>
                <a:ea typeface="Calibri" pitchFamily="34" charset="-122"/>
                <a:cs typeface="Calibri" pitchFamily="34" charset="-120"/>
              </a:rPr>
              <a:t>isolated — reachable only mid-session</a:t>
            </a:r>
            <a:endParaRPr lang="en-US" sz="900" dirty="0"/>
          </a:p>
        </p:txBody>
      </p:sp>
      <p:sp>
        <p:nvSpPr>
          <p:cNvPr id="26" name="Text 24"/>
          <p:cNvSpPr/>
          <p:nvPr/>
        </p:nvSpPr>
        <p:spPr>
          <a:xfrm>
            <a:off x="640080" y="4206240"/>
            <a:ext cx="3657600" cy="320040"/>
          </a:xfrm>
          <a:prstGeom prst="rect">
            <a:avLst/>
          </a:prstGeom>
          <a:noFill/>
          <a:ln/>
        </p:spPr>
        <p:txBody>
          <a:bodyPr wrap="square" lIns="0" tIns="0" rIns="0" bIns="0" rtlCol="0" anchor="ctr"/>
          <a:lstStyle/>
          <a:p>
            <a:pPr indent="0" marL="0">
              <a:buNone/>
            </a:pPr>
            <a:r>
              <a:rPr lang="en-US" sz="1500" b="1" dirty="0">
                <a:solidFill>
                  <a:srgbClr val="121826"/>
                </a:solidFill>
                <a:latin typeface="Cambria" pitchFamily="34" charset="0"/>
                <a:ea typeface="Cambria" pitchFamily="34" charset="-122"/>
                <a:cs typeface="Cambria" pitchFamily="34" charset="-120"/>
              </a:rPr>
              <a:t>Tech Stack</a:t>
            </a:r>
            <a:endParaRPr lang="en-US" sz="1500" dirty="0"/>
          </a:p>
        </p:txBody>
      </p:sp>
      <p:sp>
        <p:nvSpPr>
          <p:cNvPr id="27" name="Shape 25"/>
          <p:cNvSpPr/>
          <p:nvPr/>
        </p:nvSpPr>
        <p:spPr>
          <a:xfrm>
            <a:off x="640080" y="4617720"/>
            <a:ext cx="2606040" cy="1691640"/>
          </a:xfrm>
          <a:prstGeom prst="roundRect">
            <a:avLst>
              <a:gd name="adj" fmla="val 6486"/>
            </a:avLst>
          </a:prstGeom>
          <a:solidFill>
            <a:srgbClr val="FFFFFF"/>
          </a:solidFill>
          <a:ln/>
          <a:effectLst>
            <a:outerShdw sx="100000" sy="100000" kx="0" ky="0" algn="bl" rotWithShape="0" blurRad="127000" dist="38100" dir="5400000">
              <a:srgbClr val="1B2850">
                <a:alpha val="18000"/>
              </a:srgbClr>
            </a:outerShdw>
          </a:effectLst>
        </p:spPr>
      </p:sp>
      <p:sp>
        <p:nvSpPr>
          <p:cNvPr id="28" name="Text 26"/>
          <p:cNvSpPr/>
          <p:nvPr/>
        </p:nvSpPr>
        <p:spPr>
          <a:xfrm>
            <a:off x="822960" y="4773168"/>
            <a:ext cx="2240280" cy="320040"/>
          </a:xfrm>
          <a:prstGeom prst="rect">
            <a:avLst/>
          </a:prstGeom>
          <a:noFill/>
          <a:ln/>
        </p:spPr>
        <p:txBody>
          <a:bodyPr wrap="square" lIns="0" tIns="0" rIns="0" bIns="0" rtlCol="0" anchor="ctr"/>
          <a:lstStyle/>
          <a:p>
            <a:pPr indent="0" marL="0">
              <a:buNone/>
            </a:pPr>
            <a:r>
              <a:rPr lang="en-US" sz="1250" b="1" dirty="0">
                <a:solidFill>
                  <a:srgbClr val="5C63B8"/>
                </a:solidFill>
                <a:latin typeface="Cambria" pitchFamily="34" charset="0"/>
                <a:ea typeface="Cambria" pitchFamily="34" charset="-122"/>
                <a:cs typeface="Cambria" pitchFamily="34" charset="-120"/>
              </a:rPr>
              <a:t>Backend</a:t>
            </a:r>
            <a:endParaRPr lang="en-US" sz="1250" dirty="0"/>
          </a:p>
        </p:txBody>
      </p:sp>
      <p:sp>
        <p:nvSpPr>
          <p:cNvPr id="29" name="Text 27"/>
          <p:cNvSpPr/>
          <p:nvPr/>
        </p:nvSpPr>
        <p:spPr>
          <a:xfrm>
            <a:off x="822960" y="5102352"/>
            <a:ext cx="2240280" cy="1097280"/>
          </a:xfrm>
          <a:prstGeom prst="rect">
            <a:avLst/>
          </a:prstGeom>
          <a:noFill/>
          <a:ln/>
        </p:spPr>
        <p:txBody>
          <a:bodyPr wrap="square" lIns="0" tIns="0" rIns="0" bIns="0" rtlCol="0" anchor="ctr"/>
          <a:lstStyle/>
          <a:p>
            <a:pPr indent="0" marL="0">
              <a:lnSpc>
                <a:spcPct val="125000"/>
              </a:lnSpc>
              <a:buNone/>
            </a:pPr>
            <a:r>
              <a:rPr lang="en-US" sz="1050" dirty="0">
                <a:solidFill>
                  <a:srgbClr val="5B6478"/>
                </a:solidFill>
                <a:latin typeface="Calibri" pitchFamily="34" charset="0"/>
                <a:ea typeface="Calibri" pitchFamily="34" charset="-122"/>
                <a:cs typeface="Calibri" pitchFamily="34" charset="-120"/>
              </a:rPr>
              <a:t>Django, token auth, hand-rolled CORS, SQLite</a:t>
            </a:r>
            <a:endParaRPr lang="en-US" sz="1050" dirty="0"/>
          </a:p>
        </p:txBody>
      </p:sp>
      <p:sp>
        <p:nvSpPr>
          <p:cNvPr id="30" name="Shape 28"/>
          <p:cNvSpPr/>
          <p:nvPr/>
        </p:nvSpPr>
        <p:spPr>
          <a:xfrm>
            <a:off x="3429000" y="4617720"/>
            <a:ext cx="2606040" cy="1691640"/>
          </a:xfrm>
          <a:prstGeom prst="roundRect">
            <a:avLst>
              <a:gd name="adj" fmla="val 6486"/>
            </a:avLst>
          </a:prstGeom>
          <a:solidFill>
            <a:srgbClr val="FFFFFF"/>
          </a:solidFill>
          <a:ln/>
          <a:effectLst>
            <a:outerShdw sx="100000" sy="100000" kx="0" ky="0" algn="bl" rotWithShape="0" blurRad="127000" dist="38100" dir="5400000">
              <a:srgbClr val="1B2850">
                <a:alpha val="18000"/>
              </a:srgbClr>
            </a:outerShdw>
          </a:effectLst>
        </p:spPr>
      </p:sp>
      <p:sp>
        <p:nvSpPr>
          <p:cNvPr id="31" name="Text 29"/>
          <p:cNvSpPr/>
          <p:nvPr/>
        </p:nvSpPr>
        <p:spPr>
          <a:xfrm>
            <a:off x="3611880" y="4773168"/>
            <a:ext cx="2240280" cy="320040"/>
          </a:xfrm>
          <a:prstGeom prst="rect">
            <a:avLst/>
          </a:prstGeom>
          <a:noFill/>
          <a:ln/>
        </p:spPr>
        <p:txBody>
          <a:bodyPr wrap="square" lIns="0" tIns="0" rIns="0" bIns="0" rtlCol="0" anchor="ctr"/>
          <a:lstStyle/>
          <a:p>
            <a:pPr indent="0" marL="0">
              <a:buNone/>
            </a:pPr>
            <a:r>
              <a:rPr lang="en-US" sz="1250" b="1" dirty="0">
                <a:solidFill>
                  <a:srgbClr val="5C63B8"/>
                </a:solidFill>
                <a:latin typeface="Cambria" pitchFamily="34" charset="0"/>
                <a:ea typeface="Cambria" pitchFamily="34" charset="-122"/>
                <a:cs typeface="Cambria" pitchFamily="34" charset="-120"/>
              </a:rPr>
              <a:t>Patient App</a:t>
            </a:r>
            <a:endParaRPr lang="en-US" sz="1250" dirty="0"/>
          </a:p>
        </p:txBody>
      </p:sp>
      <p:sp>
        <p:nvSpPr>
          <p:cNvPr id="32" name="Text 30"/>
          <p:cNvSpPr/>
          <p:nvPr/>
        </p:nvSpPr>
        <p:spPr>
          <a:xfrm>
            <a:off x="3611880" y="5102352"/>
            <a:ext cx="2240280" cy="1097280"/>
          </a:xfrm>
          <a:prstGeom prst="rect">
            <a:avLst/>
          </a:prstGeom>
          <a:noFill/>
          <a:ln/>
        </p:spPr>
        <p:txBody>
          <a:bodyPr wrap="square" lIns="0" tIns="0" rIns="0" bIns="0" rtlCol="0" anchor="ctr"/>
          <a:lstStyle/>
          <a:p>
            <a:pPr indent="0" marL="0">
              <a:lnSpc>
                <a:spcPct val="125000"/>
              </a:lnSpc>
              <a:buNone/>
            </a:pPr>
            <a:r>
              <a:rPr lang="en-US" sz="1050" dirty="0">
                <a:solidFill>
                  <a:srgbClr val="5B6478"/>
                </a:solidFill>
                <a:latin typeface="Calibri" pitchFamily="34" charset="0"/>
                <a:ea typeface="Calibri" pitchFamily="34" charset="-122"/>
                <a:cs typeface="Calibri" pitchFamily="34" charset="-120"/>
              </a:rPr>
              <a:t>Expo SDK 51, React Native 0.74, expo-router</a:t>
            </a:r>
            <a:endParaRPr lang="en-US" sz="1050" dirty="0"/>
          </a:p>
        </p:txBody>
      </p:sp>
      <p:sp>
        <p:nvSpPr>
          <p:cNvPr id="33" name="Shape 31"/>
          <p:cNvSpPr/>
          <p:nvPr/>
        </p:nvSpPr>
        <p:spPr>
          <a:xfrm>
            <a:off x="6217920" y="4617720"/>
            <a:ext cx="2606040" cy="1691640"/>
          </a:xfrm>
          <a:prstGeom prst="roundRect">
            <a:avLst>
              <a:gd name="adj" fmla="val 6486"/>
            </a:avLst>
          </a:prstGeom>
          <a:solidFill>
            <a:srgbClr val="FFFFFF"/>
          </a:solidFill>
          <a:ln/>
          <a:effectLst>
            <a:outerShdw sx="100000" sy="100000" kx="0" ky="0" algn="bl" rotWithShape="0" blurRad="127000" dist="38100" dir="5400000">
              <a:srgbClr val="1B2850">
                <a:alpha val="18000"/>
              </a:srgbClr>
            </a:outerShdw>
          </a:effectLst>
        </p:spPr>
      </p:sp>
      <p:sp>
        <p:nvSpPr>
          <p:cNvPr id="34" name="Text 32"/>
          <p:cNvSpPr/>
          <p:nvPr/>
        </p:nvSpPr>
        <p:spPr>
          <a:xfrm>
            <a:off x="6400800" y="4773168"/>
            <a:ext cx="2240280" cy="320040"/>
          </a:xfrm>
          <a:prstGeom prst="rect">
            <a:avLst/>
          </a:prstGeom>
          <a:noFill/>
          <a:ln/>
        </p:spPr>
        <p:txBody>
          <a:bodyPr wrap="square" lIns="0" tIns="0" rIns="0" bIns="0" rtlCol="0" anchor="ctr"/>
          <a:lstStyle/>
          <a:p>
            <a:pPr indent="0" marL="0">
              <a:buNone/>
            </a:pPr>
            <a:r>
              <a:rPr lang="en-US" sz="1250" b="1" dirty="0">
                <a:solidFill>
                  <a:srgbClr val="5C63B8"/>
                </a:solidFill>
                <a:latin typeface="Cambria" pitchFamily="34" charset="0"/>
                <a:ea typeface="Cambria" pitchFamily="34" charset="-122"/>
                <a:cs typeface="Cambria" pitchFamily="34" charset="-120"/>
              </a:rPr>
              <a:t>Device Link</a:t>
            </a:r>
            <a:endParaRPr lang="en-US" sz="1250" dirty="0"/>
          </a:p>
        </p:txBody>
      </p:sp>
      <p:sp>
        <p:nvSpPr>
          <p:cNvPr id="35" name="Text 33"/>
          <p:cNvSpPr/>
          <p:nvPr/>
        </p:nvSpPr>
        <p:spPr>
          <a:xfrm>
            <a:off x="6400800" y="5102352"/>
            <a:ext cx="2240280" cy="1097280"/>
          </a:xfrm>
          <a:prstGeom prst="rect">
            <a:avLst/>
          </a:prstGeom>
          <a:noFill/>
          <a:ln/>
        </p:spPr>
        <p:txBody>
          <a:bodyPr wrap="square" lIns="0" tIns="0" rIns="0" bIns="0" rtlCol="0" anchor="ctr"/>
          <a:lstStyle/>
          <a:p>
            <a:pPr indent="0" marL="0">
              <a:lnSpc>
                <a:spcPct val="125000"/>
              </a:lnSpc>
              <a:buNone/>
            </a:pPr>
            <a:r>
              <a:rPr lang="en-US" sz="1050" dirty="0">
                <a:solidFill>
                  <a:srgbClr val="5B6478"/>
                </a:solidFill>
                <a:latin typeface="Calibri" pitchFamily="34" charset="0"/>
                <a:ea typeface="Calibri" pitchFamily="34" charset="-122"/>
                <a:cs typeface="Calibri" pitchFamily="34" charset="-120"/>
              </a:rPr>
              <a:t>PacemakerLink abstraction — BLE / HTTP-sim / mocked, one interface</a:t>
            </a:r>
            <a:endParaRPr lang="en-US" sz="1050" dirty="0"/>
          </a:p>
        </p:txBody>
      </p:sp>
      <p:sp>
        <p:nvSpPr>
          <p:cNvPr id="36" name="Shape 34"/>
          <p:cNvSpPr/>
          <p:nvPr/>
        </p:nvSpPr>
        <p:spPr>
          <a:xfrm>
            <a:off x="9006840" y="4617720"/>
            <a:ext cx="2606040" cy="1691640"/>
          </a:xfrm>
          <a:prstGeom prst="roundRect">
            <a:avLst>
              <a:gd name="adj" fmla="val 6486"/>
            </a:avLst>
          </a:prstGeom>
          <a:solidFill>
            <a:srgbClr val="FFFFFF"/>
          </a:solidFill>
          <a:ln/>
          <a:effectLst>
            <a:outerShdw sx="100000" sy="100000" kx="0" ky="0" algn="bl" rotWithShape="0" blurRad="127000" dist="38100" dir="5400000">
              <a:srgbClr val="1B2850">
                <a:alpha val="18000"/>
              </a:srgbClr>
            </a:outerShdw>
          </a:effectLst>
        </p:spPr>
      </p:sp>
      <p:sp>
        <p:nvSpPr>
          <p:cNvPr id="37" name="Text 35"/>
          <p:cNvSpPr/>
          <p:nvPr/>
        </p:nvSpPr>
        <p:spPr>
          <a:xfrm>
            <a:off x="9189720" y="4773168"/>
            <a:ext cx="2240280" cy="320040"/>
          </a:xfrm>
          <a:prstGeom prst="rect">
            <a:avLst/>
          </a:prstGeom>
          <a:noFill/>
          <a:ln/>
        </p:spPr>
        <p:txBody>
          <a:bodyPr wrap="square" lIns="0" tIns="0" rIns="0" bIns="0" rtlCol="0" anchor="ctr"/>
          <a:lstStyle/>
          <a:p>
            <a:pPr indent="0" marL="0">
              <a:buNone/>
            </a:pPr>
            <a:r>
              <a:rPr lang="en-US" sz="1250" b="1" dirty="0">
                <a:solidFill>
                  <a:srgbClr val="5C63B8"/>
                </a:solidFill>
                <a:latin typeface="Cambria" pitchFamily="34" charset="0"/>
                <a:ea typeface="Cambria" pitchFamily="34" charset="-122"/>
                <a:cs typeface="Cambria" pitchFamily="34" charset="-120"/>
              </a:rPr>
              <a:t>AI Assistant</a:t>
            </a:r>
            <a:endParaRPr lang="en-US" sz="1250" dirty="0"/>
          </a:p>
        </p:txBody>
      </p:sp>
      <p:sp>
        <p:nvSpPr>
          <p:cNvPr id="38" name="Text 36"/>
          <p:cNvSpPr/>
          <p:nvPr/>
        </p:nvSpPr>
        <p:spPr>
          <a:xfrm>
            <a:off x="9189720" y="5102352"/>
            <a:ext cx="2240280" cy="1097280"/>
          </a:xfrm>
          <a:prstGeom prst="rect">
            <a:avLst/>
          </a:prstGeom>
          <a:noFill/>
          <a:ln/>
        </p:spPr>
        <p:txBody>
          <a:bodyPr wrap="square" lIns="0" tIns="0" rIns="0" bIns="0" rtlCol="0" anchor="ctr"/>
          <a:lstStyle/>
          <a:p>
            <a:pPr indent="0" marL="0">
              <a:lnSpc>
                <a:spcPct val="125000"/>
              </a:lnSpc>
              <a:buNone/>
            </a:pPr>
            <a:r>
              <a:rPr lang="en-US" sz="1050" dirty="0">
                <a:solidFill>
                  <a:srgbClr val="5B6478"/>
                </a:solidFill>
                <a:latin typeface="Calibri" pitchFamily="34" charset="0"/>
                <a:ea typeface="Calibri" pitchFamily="34" charset="-122"/>
                <a:cs typeface="Calibri" pitchFamily="34" charset="-120"/>
              </a:rPr>
              <a:t>Gemini-backed Heart Assistant for patient education</a:t>
            </a:r>
            <a:endParaRPr lang="en-US" sz="1050" dirty="0"/>
          </a:p>
        </p:txBody>
      </p:sp>
      <p:sp>
        <p:nvSpPr>
          <p:cNvPr id="39" name="Text 37"/>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E7E9FB"/>
          </a:solidFill>
          <a:ln/>
        </p:spPr>
      </p:sp>
      <p:sp>
        <p:nvSpPr>
          <p:cNvPr id="3" name="Shape 1"/>
          <p:cNvSpPr/>
          <p:nvPr/>
        </p:nvSpPr>
        <p:spPr>
          <a:xfrm>
            <a:off x="781812" y="662940"/>
            <a:ext cx="283464" cy="283464"/>
          </a:xfrm>
          <a:prstGeom prst="flowChartTerminator">
            <a:avLst/>
          </a:prstGeom>
          <a:solidFill>
            <a:srgbClr val="5C63B8"/>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HOSPITAL SIDE</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Doctor Portal Workflow</a:t>
            </a:r>
            <a:endParaRPr lang="en-US" sz="3000" dirty="0"/>
          </a:p>
        </p:txBody>
      </p:sp>
      <p:sp>
        <p:nvSpPr>
          <p:cNvPr id="6" name="Shape 4"/>
          <p:cNvSpPr/>
          <p:nvPr/>
        </p:nvSpPr>
        <p:spPr>
          <a:xfrm>
            <a:off x="64008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7" name="Text 5"/>
          <p:cNvSpPr/>
          <p:nvPr/>
        </p:nvSpPr>
        <p:spPr>
          <a:xfrm>
            <a:off x="841248" y="2011680"/>
            <a:ext cx="1005840" cy="548640"/>
          </a:xfrm>
          <a:prstGeom prst="rect">
            <a:avLst/>
          </a:prstGeom>
          <a:noFill/>
          <a:ln/>
        </p:spPr>
        <p:txBody>
          <a:bodyPr wrap="square" lIns="0" tIns="0" rIns="0" bIns="0" rtlCol="0" anchor="ctr"/>
          <a:lstStyle/>
          <a:p>
            <a:pPr indent="0" marL="0">
              <a:buNone/>
            </a:pPr>
            <a:r>
              <a:rPr lang="en-US" sz="2800" b="1" dirty="0">
                <a:solidFill>
                  <a:srgbClr val="D8DBEF"/>
                </a:solidFill>
                <a:latin typeface="Cambria" pitchFamily="34" charset="0"/>
                <a:ea typeface="Cambria" pitchFamily="34" charset="-122"/>
                <a:cs typeface="Cambria" pitchFamily="34" charset="-120"/>
              </a:rPr>
              <a:t>01</a:t>
            </a:r>
            <a:endParaRPr lang="en-US" sz="2800" dirty="0"/>
          </a:p>
        </p:txBody>
      </p:sp>
      <p:sp>
        <p:nvSpPr>
          <p:cNvPr id="8" name="Text 6"/>
          <p:cNvSpPr/>
          <p:nvPr/>
        </p:nvSpPr>
        <p:spPr>
          <a:xfrm>
            <a:off x="841248" y="2651760"/>
            <a:ext cx="2203704" cy="640080"/>
          </a:xfrm>
          <a:prstGeom prst="rect">
            <a:avLst/>
          </a:prstGeom>
          <a:noFill/>
          <a:ln/>
        </p:spPr>
        <p:txBody>
          <a:bodyPr wrap="square" lIns="0" tIns="0" rIns="0" bIns="0" rtlCol="0" anchor="ctr"/>
          <a:lstStyle/>
          <a:p>
            <a:pPr indent="0" marL="0">
              <a:lnSpc>
                <a:spcPct val="110000"/>
              </a:lnSpc>
              <a:buNone/>
            </a:pPr>
            <a:r>
              <a:rPr lang="en-US" sz="1500" b="1" dirty="0">
                <a:solidFill>
                  <a:srgbClr val="121826"/>
                </a:solidFill>
                <a:latin typeface="Cambria" pitchFamily="34" charset="0"/>
                <a:ea typeface="Cambria" pitchFamily="34" charset="-122"/>
                <a:cs typeface="Cambria" pitchFamily="34" charset="-120"/>
              </a:rPr>
              <a:t>Register the patient</a:t>
            </a:r>
            <a:endParaRPr lang="en-US" sz="1500" dirty="0"/>
          </a:p>
        </p:txBody>
      </p:sp>
      <p:sp>
        <p:nvSpPr>
          <p:cNvPr id="9" name="Text 7"/>
          <p:cNvSpPr/>
          <p:nvPr/>
        </p:nvSpPr>
        <p:spPr>
          <a:xfrm>
            <a:off x="841248" y="3246120"/>
            <a:ext cx="2203704" cy="2103120"/>
          </a:xfrm>
          <a:prstGeom prst="rect">
            <a:avLst/>
          </a:prstGeom>
          <a:noFill/>
          <a:ln/>
        </p:spPr>
        <p:txBody>
          <a:bodyPr wrap="square" lIns="0" tIns="0" rIns="0" bIns="0" rtlCol="0" anchor="ctr"/>
          <a:lstStyle/>
          <a:p>
            <a:pPr indent="0" marL="0">
              <a:lnSpc>
                <a:spcPct val="132000"/>
              </a:lnSpc>
              <a:buNone/>
            </a:pPr>
            <a:r>
              <a:rPr lang="en-US" sz="1100" dirty="0">
                <a:solidFill>
                  <a:srgbClr val="5B6478"/>
                </a:solidFill>
                <a:latin typeface="Calibri" pitchFamily="34" charset="0"/>
                <a:ea typeface="Calibri" pitchFamily="34" charset="-122"/>
                <a:cs typeface="Calibri" pitchFamily="34" charset="-120"/>
              </a:rPr>
              <a:t>Doctor creates a patient record; a login is provisioned for their mobile app under the doctor's own account scope.</a:t>
            </a:r>
            <a:endParaRPr lang="en-US" sz="1100" dirty="0"/>
          </a:p>
        </p:txBody>
      </p:sp>
      <p:sp>
        <p:nvSpPr>
          <p:cNvPr id="10" name="Shape 8"/>
          <p:cNvSpPr/>
          <p:nvPr/>
        </p:nvSpPr>
        <p:spPr>
          <a:xfrm>
            <a:off x="3264408" y="3566160"/>
            <a:ext cx="146304" cy="182880"/>
          </a:xfrm>
          <a:prstGeom prst="rightArrow">
            <a:avLst/>
          </a:prstGeom>
          <a:solidFill>
            <a:srgbClr val="C7CBE8"/>
          </a:solidFill>
          <a:ln/>
        </p:spPr>
      </p:sp>
      <p:sp>
        <p:nvSpPr>
          <p:cNvPr id="11" name="Shape 9"/>
          <p:cNvSpPr/>
          <p:nvPr/>
        </p:nvSpPr>
        <p:spPr>
          <a:xfrm>
            <a:off x="342900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12" name="Text 10"/>
          <p:cNvSpPr/>
          <p:nvPr/>
        </p:nvSpPr>
        <p:spPr>
          <a:xfrm>
            <a:off x="3630168" y="2011680"/>
            <a:ext cx="1005840" cy="548640"/>
          </a:xfrm>
          <a:prstGeom prst="rect">
            <a:avLst/>
          </a:prstGeom>
          <a:noFill/>
          <a:ln/>
        </p:spPr>
        <p:txBody>
          <a:bodyPr wrap="square" lIns="0" tIns="0" rIns="0" bIns="0" rtlCol="0" anchor="ctr"/>
          <a:lstStyle/>
          <a:p>
            <a:pPr indent="0" marL="0">
              <a:buNone/>
            </a:pPr>
            <a:r>
              <a:rPr lang="en-US" sz="2800" b="1" dirty="0">
                <a:solidFill>
                  <a:srgbClr val="D8DBEF"/>
                </a:solidFill>
                <a:latin typeface="Cambria" pitchFamily="34" charset="0"/>
                <a:ea typeface="Cambria" pitchFamily="34" charset="-122"/>
                <a:cs typeface="Cambria" pitchFamily="34" charset="-120"/>
              </a:rPr>
              <a:t>02</a:t>
            </a:r>
            <a:endParaRPr lang="en-US" sz="2800" dirty="0"/>
          </a:p>
        </p:txBody>
      </p:sp>
      <p:sp>
        <p:nvSpPr>
          <p:cNvPr id="13" name="Text 11"/>
          <p:cNvSpPr/>
          <p:nvPr/>
        </p:nvSpPr>
        <p:spPr>
          <a:xfrm>
            <a:off x="3630168" y="2651760"/>
            <a:ext cx="2203704" cy="640080"/>
          </a:xfrm>
          <a:prstGeom prst="rect">
            <a:avLst/>
          </a:prstGeom>
          <a:noFill/>
          <a:ln/>
        </p:spPr>
        <p:txBody>
          <a:bodyPr wrap="square" lIns="0" tIns="0" rIns="0" bIns="0" rtlCol="0" anchor="ctr"/>
          <a:lstStyle/>
          <a:p>
            <a:pPr indent="0" marL="0">
              <a:lnSpc>
                <a:spcPct val="110000"/>
              </a:lnSpc>
              <a:buNone/>
            </a:pPr>
            <a:r>
              <a:rPr lang="en-US" sz="1500" b="1" dirty="0">
                <a:solidFill>
                  <a:srgbClr val="121826"/>
                </a:solidFill>
                <a:latin typeface="Cambria" pitchFamily="34" charset="0"/>
                <a:ea typeface="Cambria" pitchFamily="34" charset="-122"/>
                <a:cs typeface="Cambria" pitchFamily="34" charset="-120"/>
              </a:rPr>
              <a:t>Prescribe a voltage</a:t>
            </a:r>
            <a:endParaRPr lang="en-US" sz="1500" dirty="0"/>
          </a:p>
        </p:txBody>
      </p:sp>
      <p:sp>
        <p:nvSpPr>
          <p:cNvPr id="14" name="Text 12"/>
          <p:cNvSpPr/>
          <p:nvPr/>
        </p:nvSpPr>
        <p:spPr>
          <a:xfrm>
            <a:off x="3630168" y="3246120"/>
            <a:ext cx="2203704" cy="2103120"/>
          </a:xfrm>
          <a:prstGeom prst="rect">
            <a:avLst/>
          </a:prstGeom>
          <a:noFill/>
          <a:ln/>
        </p:spPr>
        <p:txBody>
          <a:bodyPr wrap="square" lIns="0" tIns="0" rIns="0" bIns="0" rtlCol="0" anchor="ctr"/>
          <a:lstStyle/>
          <a:p>
            <a:pPr indent="0" marL="0">
              <a:lnSpc>
                <a:spcPct val="132000"/>
              </a:lnSpc>
              <a:buNone/>
            </a:pPr>
            <a:r>
              <a:rPr lang="en-US" sz="1100" dirty="0">
                <a:solidFill>
                  <a:srgbClr val="5B6478"/>
                </a:solidFill>
                <a:latin typeface="Calibri" pitchFamily="34" charset="0"/>
                <a:ea typeface="Calibri" pitchFamily="34" charset="-122"/>
                <a:cs typeface="Calibri" pitchFamily="34" charset="-120"/>
              </a:rPr>
              <a:t>Doctor sets a target voltage, bounded server-side to a safe 0.5V–7.5V range (default 2.5V) — never applied directly to the device.</a:t>
            </a:r>
            <a:endParaRPr lang="en-US" sz="1100" dirty="0"/>
          </a:p>
        </p:txBody>
      </p:sp>
      <p:sp>
        <p:nvSpPr>
          <p:cNvPr id="15" name="Shape 13"/>
          <p:cNvSpPr/>
          <p:nvPr/>
        </p:nvSpPr>
        <p:spPr>
          <a:xfrm>
            <a:off x="6053328" y="3566160"/>
            <a:ext cx="146304" cy="182880"/>
          </a:xfrm>
          <a:prstGeom prst="rightArrow">
            <a:avLst/>
          </a:prstGeom>
          <a:solidFill>
            <a:srgbClr val="C7CBE8"/>
          </a:solidFill>
          <a:ln/>
        </p:spPr>
      </p:sp>
      <p:sp>
        <p:nvSpPr>
          <p:cNvPr id="16" name="Shape 14"/>
          <p:cNvSpPr/>
          <p:nvPr/>
        </p:nvSpPr>
        <p:spPr>
          <a:xfrm>
            <a:off x="621792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17" name="Text 15"/>
          <p:cNvSpPr/>
          <p:nvPr/>
        </p:nvSpPr>
        <p:spPr>
          <a:xfrm>
            <a:off x="6419088" y="2011680"/>
            <a:ext cx="1005840" cy="548640"/>
          </a:xfrm>
          <a:prstGeom prst="rect">
            <a:avLst/>
          </a:prstGeom>
          <a:noFill/>
          <a:ln/>
        </p:spPr>
        <p:txBody>
          <a:bodyPr wrap="square" lIns="0" tIns="0" rIns="0" bIns="0" rtlCol="0" anchor="ctr"/>
          <a:lstStyle/>
          <a:p>
            <a:pPr indent="0" marL="0">
              <a:buNone/>
            </a:pPr>
            <a:r>
              <a:rPr lang="en-US" sz="2800" b="1" dirty="0">
                <a:solidFill>
                  <a:srgbClr val="D8DBEF"/>
                </a:solidFill>
                <a:latin typeface="Cambria" pitchFamily="34" charset="0"/>
                <a:ea typeface="Cambria" pitchFamily="34" charset="-122"/>
                <a:cs typeface="Cambria" pitchFamily="34" charset="-120"/>
              </a:rPr>
              <a:t>03</a:t>
            </a:r>
            <a:endParaRPr lang="en-US" sz="2800" dirty="0"/>
          </a:p>
        </p:txBody>
      </p:sp>
      <p:sp>
        <p:nvSpPr>
          <p:cNvPr id="18" name="Text 16"/>
          <p:cNvSpPr/>
          <p:nvPr/>
        </p:nvSpPr>
        <p:spPr>
          <a:xfrm>
            <a:off x="6419088" y="2651760"/>
            <a:ext cx="2203704" cy="640080"/>
          </a:xfrm>
          <a:prstGeom prst="rect">
            <a:avLst/>
          </a:prstGeom>
          <a:noFill/>
          <a:ln/>
        </p:spPr>
        <p:txBody>
          <a:bodyPr wrap="square" lIns="0" tIns="0" rIns="0" bIns="0" rtlCol="0" anchor="ctr"/>
          <a:lstStyle/>
          <a:p>
            <a:pPr indent="0" marL="0">
              <a:lnSpc>
                <a:spcPct val="110000"/>
              </a:lnSpc>
              <a:buNone/>
            </a:pPr>
            <a:r>
              <a:rPr lang="en-US" sz="1500" b="1" dirty="0">
                <a:solidFill>
                  <a:srgbClr val="121826"/>
                </a:solidFill>
                <a:latin typeface="Cambria" pitchFamily="34" charset="0"/>
                <a:ea typeface="Cambria" pitchFamily="34" charset="-122"/>
                <a:cs typeface="Cambria" pitchFamily="34" charset="-120"/>
              </a:rPr>
              <a:t>Change is queued</a:t>
            </a:r>
            <a:endParaRPr lang="en-US" sz="1500" dirty="0"/>
          </a:p>
        </p:txBody>
      </p:sp>
      <p:sp>
        <p:nvSpPr>
          <p:cNvPr id="19" name="Text 17"/>
          <p:cNvSpPr/>
          <p:nvPr/>
        </p:nvSpPr>
        <p:spPr>
          <a:xfrm>
            <a:off x="6419088" y="3246120"/>
            <a:ext cx="2203704" cy="2103120"/>
          </a:xfrm>
          <a:prstGeom prst="rect">
            <a:avLst/>
          </a:prstGeom>
          <a:noFill/>
          <a:ln/>
        </p:spPr>
        <p:txBody>
          <a:bodyPr wrap="square" lIns="0" tIns="0" rIns="0" bIns="0" rtlCol="0" anchor="ctr"/>
          <a:lstStyle/>
          <a:p>
            <a:pPr indent="0" marL="0">
              <a:lnSpc>
                <a:spcPct val="132000"/>
              </a:lnSpc>
              <a:buNone/>
            </a:pPr>
            <a:r>
              <a:rPr lang="en-US" sz="1100" dirty="0">
                <a:solidFill>
                  <a:srgbClr val="5B6478"/>
                </a:solidFill>
                <a:latin typeface="Calibri" pitchFamily="34" charset="0"/>
                <a:ea typeface="Calibri" pitchFamily="34" charset="-122"/>
                <a:cs typeface="Calibri" pitchFamily="34" charset="-120"/>
              </a:rPr>
              <a:t>The prescription is stored as a pending VoltageChange, marked unpushed until the patient's phone actually delivers it.</a:t>
            </a:r>
            <a:endParaRPr lang="en-US" sz="1100" dirty="0"/>
          </a:p>
        </p:txBody>
      </p:sp>
      <p:sp>
        <p:nvSpPr>
          <p:cNvPr id="20" name="Shape 18"/>
          <p:cNvSpPr/>
          <p:nvPr/>
        </p:nvSpPr>
        <p:spPr>
          <a:xfrm>
            <a:off x="8842248" y="3566160"/>
            <a:ext cx="146304" cy="182880"/>
          </a:xfrm>
          <a:prstGeom prst="rightArrow">
            <a:avLst/>
          </a:prstGeom>
          <a:solidFill>
            <a:srgbClr val="C7CBE8"/>
          </a:solidFill>
          <a:ln/>
        </p:spPr>
      </p:sp>
      <p:sp>
        <p:nvSpPr>
          <p:cNvPr id="21" name="Shape 19"/>
          <p:cNvSpPr/>
          <p:nvPr/>
        </p:nvSpPr>
        <p:spPr>
          <a:xfrm>
            <a:off x="900684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22" name="Text 20"/>
          <p:cNvSpPr/>
          <p:nvPr/>
        </p:nvSpPr>
        <p:spPr>
          <a:xfrm>
            <a:off x="9208008" y="2011680"/>
            <a:ext cx="1005840" cy="548640"/>
          </a:xfrm>
          <a:prstGeom prst="rect">
            <a:avLst/>
          </a:prstGeom>
          <a:noFill/>
          <a:ln/>
        </p:spPr>
        <p:txBody>
          <a:bodyPr wrap="square" lIns="0" tIns="0" rIns="0" bIns="0" rtlCol="0" anchor="ctr"/>
          <a:lstStyle/>
          <a:p>
            <a:pPr indent="0" marL="0">
              <a:buNone/>
            </a:pPr>
            <a:r>
              <a:rPr lang="en-US" sz="2800" b="1" dirty="0">
                <a:solidFill>
                  <a:srgbClr val="D8DBEF"/>
                </a:solidFill>
                <a:latin typeface="Cambria" pitchFamily="34" charset="0"/>
                <a:ea typeface="Cambria" pitchFamily="34" charset="-122"/>
                <a:cs typeface="Cambria" pitchFamily="34" charset="-120"/>
              </a:rPr>
              <a:t>04</a:t>
            </a:r>
            <a:endParaRPr lang="en-US" sz="2800" dirty="0"/>
          </a:p>
        </p:txBody>
      </p:sp>
      <p:sp>
        <p:nvSpPr>
          <p:cNvPr id="23" name="Text 21"/>
          <p:cNvSpPr/>
          <p:nvPr/>
        </p:nvSpPr>
        <p:spPr>
          <a:xfrm>
            <a:off x="9208008" y="2651760"/>
            <a:ext cx="2203704" cy="640080"/>
          </a:xfrm>
          <a:prstGeom prst="rect">
            <a:avLst/>
          </a:prstGeom>
          <a:noFill/>
          <a:ln/>
        </p:spPr>
        <p:txBody>
          <a:bodyPr wrap="square" lIns="0" tIns="0" rIns="0" bIns="0" rtlCol="0" anchor="ctr"/>
          <a:lstStyle/>
          <a:p>
            <a:pPr indent="0" marL="0">
              <a:lnSpc>
                <a:spcPct val="110000"/>
              </a:lnSpc>
              <a:buNone/>
            </a:pPr>
            <a:r>
              <a:rPr lang="en-US" sz="1500" b="1" dirty="0">
                <a:solidFill>
                  <a:srgbClr val="121826"/>
                </a:solidFill>
                <a:latin typeface="Cambria" pitchFamily="34" charset="0"/>
                <a:ea typeface="Cambria" pitchFamily="34" charset="-122"/>
                <a:cs typeface="Cambria" pitchFamily="34" charset="-120"/>
              </a:rPr>
              <a:t>Monitor readings</a:t>
            </a:r>
            <a:endParaRPr lang="en-US" sz="1500" dirty="0"/>
          </a:p>
        </p:txBody>
      </p:sp>
      <p:sp>
        <p:nvSpPr>
          <p:cNvPr id="24" name="Text 22"/>
          <p:cNvSpPr/>
          <p:nvPr/>
        </p:nvSpPr>
        <p:spPr>
          <a:xfrm>
            <a:off x="9208008" y="3246120"/>
            <a:ext cx="2203704" cy="2103120"/>
          </a:xfrm>
          <a:prstGeom prst="rect">
            <a:avLst/>
          </a:prstGeom>
          <a:noFill/>
          <a:ln/>
        </p:spPr>
        <p:txBody>
          <a:bodyPr wrap="square" lIns="0" tIns="0" rIns="0" bIns="0" rtlCol="0" anchor="ctr"/>
          <a:lstStyle/>
          <a:p>
            <a:pPr indent="0" marL="0">
              <a:lnSpc>
                <a:spcPct val="132000"/>
              </a:lnSpc>
              <a:buNone/>
            </a:pPr>
            <a:r>
              <a:rPr lang="en-US" sz="1100" dirty="0">
                <a:solidFill>
                  <a:srgbClr val="5B6478"/>
                </a:solidFill>
                <a:latin typeface="Calibri" pitchFamily="34" charset="0"/>
                <a:ea typeface="Calibri" pitchFamily="34" charset="-122"/>
                <a:cs typeface="Calibri" pitchFamily="34" charset="-120"/>
              </a:rPr>
              <a:t>Heart-rate history the phone has synced back is available on the dashboard for review between visits.</a:t>
            </a:r>
            <a:endParaRPr lang="en-US" sz="1100" dirty="0"/>
          </a:p>
        </p:txBody>
      </p:sp>
      <p:sp>
        <p:nvSpPr>
          <p:cNvPr id="25" name="Text 23"/>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141F3D"/>
          </a:solidFill>
          <a:ln/>
        </p:spPr>
      </p:sp>
      <p:sp>
        <p:nvSpPr>
          <p:cNvPr id="3" name="Shape 1"/>
          <p:cNvSpPr/>
          <p:nvPr/>
        </p:nvSpPr>
        <p:spPr>
          <a:xfrm>
            <a:off x="781812" y="662940"/>
            <a:ext cx="283464" cy="283464"/>
          </a:xfrm>
          <a:prstGeom prst="gear6">
            <a:avLst/>
          </a:prstGeom>
          <a:solidFill>
            <a:srgbClr val="C3C8FC"/>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C3C8FC"/>
                </a:solidFill>
                <a:latin typeface="Calibri" pitchFamily="34" charset="0"/>
                <a:ea typeface="Calibri" pitchFamily="34" charset="-122"/>
                <a:cs typeface="Calibri" pitchFamily="34" charset="-120"/>
              </a:rPr>
              <a:t>PATIENT SIDE</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F5F6FC"/>
                </a:solidFill>
                <a:latin typeface="Cambria" pitchFamily="34" charset="0"/>
                <a:ea typeface="Cambria" pitchFamily="34" charset="-122"/>
                <a:cs typeface="Cambria" pitchFamily="34" charset="-120"/>
              </a:rPr>
              <a:t>Patient Mobile App: The Sync Cycle</a:t>
            </a:r>
            <a:endParaRPr lang="en-US" sz="3000" dirty="0"/>
          </a:p>
        </p:txBody>
      </p:sp>
      <p:sp>
        <p:nvSpPr>
          <p:cNvPr id="6" name="Text 4"/>
          <p:cNvSpPr/>
          <p:nvPr/>
        </p:nvSpPr>
        <p:spPr>
          <a:xfrm>
            <a:off x="640080" y="1645920"/>
            <a:ext cx="10881360" cy="457200"/>
          </a:xfrm>
          <a:prstGeom prst="rect">
            <a:avLst/>
          </a:prstGeom>
          <a:noFill/>
          <a:ln/>
        </p:spPr>
        <p:txBody>
          <a:bodyPr wrap="square" lIns="0" tIns="0" rIns="0" bIns="0" rtlCol="0" anchor="ctr"/>
          <a:lstStyle/>
          <a:p>
            <a:pPr indent="0" marL="0">
              <a:buNone/>
            </a:pPr>
            <a:r>
              <a:rPr lang="en-US" sz="1350" dirty="0">
                <a:solidFill>
                  <a:srgbClr val="9AA3C7"/>
                </a:solidFill>
                <a:latin typeface="Calibri" pitchFamily="34" charset="0"/>
                <a:ea typeface="Calibri" pitchFamily="34" charset="-122"/>
                <a:cs typeface="Calibri" pitchFamily="34" charset="-120"/>
              </a:rPr>
              <a:t>Every 30 minutes — or on demand, when the patient taps “Sync now” — the app runs one short, self-contained cycle:</a:t>
            </a:r>
            <a:endParaRPr lang="en-US" sz="1350" dirty="0"/>
          </a:p>
        </p:txBody>
      </p:sp>
      <p:sp>
        <p:nvSpPr>
          <p:cNvPr id="7" name="Shape 5"/>
          <p:cNvSpPr/>
          <p:nvPr/>
        </p:nvSpPr>
        <p:spPr>
          <a:xfrm>
            <a:off x="640080" y="2331720"/>
            <a:ext cx="2560320" cy="2148840"/>
          </a:xfrm>
          <a:prstGeom prst="roundRect">
            <a:avLst>
              <a:gd name="adj" fmla="val 4255"/>
            </a:avLst>
          </a:prstGeom>
          <a:solidFill>
            <a:srgbClr val="141F3D"/>
          </a:solidFill>
          <a:ln/>
        </p:spPr>
      </p:sp>
      <p:sp>
        <p:nvSpPr>
          <p:cNvPr id="8" name="Shape 6"/>
          <p:cNvSpPr/>
          <p:nvPr/>
        </p:nvSpPr>
        <p:spPr>
          <a:xfrm>
            <a:off x="841248" y="2532888"/>
            <a:ext cx="502920" cy="502920"/>
          </a:xfrm>
          <a:prstGeom prst="ellipse">
            <a:avLst/>
          </a:prstGeom>
          <a:solidFill>
            <a:srgbClr val="1B2850"/>
          </a:solidFill>
          <a:ln/>
        </p:spPr>
      </p:sp>
      <p:sp>
        <p:nvSpPr>
          <p:cNvPr id="9" name="Shape 7"/>
          <p:cNvSpPr/>
          <p:nvPr/>
        </p:nvSpPr>
        <p:spPr>
          <a:xfrm>
            <a:off x="966978" y="2658618"/>
            <a:ext cx="251460" cy="251460"/>
          </a:xfrm>
          <a:prstGeom prst="circularArrow">
            <a:avLst/>
          </a:prstGeom>
          <a:solidFill>
            <a:srgbClr val="C3C8FC"/>
          </a:solidFill>
          <a:ln/>
        </p:spPr>
      </p:sp>
      <p:sp>
        <p:nvSpPr>
          <p:cNvPr id="10" name="Text 8"/>
          <p:cNvSpPr/>
          <p:nvPr/>
        </p:nvSpPr>
        <p:spPr>
          <a:xfrm>
            <a:off x="841248" y="3154680"/>
            <a:ext cx="2157984" cy="365760"/>
          </a:xfrm>
          <a:prstGeom prst="rect">
            <a:avLst/>
          </a:prstGeom>
          <a:noFill/>
          <a:ln/>
        </p:spPr>
        <p:txBody>
          <a:bodyPr wrap="square" lIns="0" tIns="0" rIns="0" bIns="0" rtlCol="0" anchor="ctr"/>
          <a:lstStyle/>
          <a:p>
            <a:pPr indent="0" marL="0">
              <a:buNone/>
            </a:pPr>
            <a:r>
              <a:rPr lang="en-US" sz="1450" b="1" dirty="0">
                <a:solidFill>
                  <a:srgbClr val="F5F6FC"/>
                </a:solidFill>
                <a:latin typeface="Cambria" pitchFamily="34" charset="0"/>
                <a:ea typeface="Cambria" pitchFamily="34" charset="-122"/>
                <a:cs typeface="Cambria" pitchFamily="34" charset="-120"/>
              </a:rPr>
              <a:t>Connect</a:t>
            </a:r>
            <a:endParaRPr lang="en-US" sz="1450" dirty="0"/>
          </a:p>
        </p:txBody>
      </p:sp>
      <p:sp>
        <p:nvSpPr>
          <p:cNvPr id="11" name="Text 9"/>
          <p:cNvSpPr/>
          <p:nvPr/>
        </p:nvSpPr>
        <p:spPr>
          <a:xfrm>
            <a:off x="841248" y="3520440"/>
            <a:ext cx="2157984" cy="914400"/>
          </a:xfrm>
          <a:prstGeom prst="rect">
            <a:avLst/>
          </a:prstGeom>
          <a:noFill/>
          <a:ln/>
        </p:spPr>
        <p:txBody>
          <a:bodyPr wrap="square" lIns="0" tIns="0" rIns="0" bIns="0" rtlCol="0" anchor="ctr"/>
          <a:lstStyle/>
          <a:p>
            <a:pPr indent="0" marL="0">
              <a:lnSpc>
                <a:spcPct val="125000"/>
              </a:lnSpc>
              <a:buNone/>
            </a:pPr>
            <a:r>
              <a:rPr lang="en-US" sz="1000" dirty="0">
                <a:solidFill>
                  <a:srgbClr val="9AA3C7"/>
                </a:solidFill>
                <a:latin typeface="Calibri" pitchFamily="34" charset="0"/>
                <a:ea typeface="Calibri" pitchFamily="34" charset="-122"/>
                <a:cs typeface="Calibri" pitchFamily="34" charset="-120"/>
              </a:rPr>
              <a:t>Phone opens a session with the implant; it wakes and hands back a one-time session id.</a:t>
            </a:r>
            <a:endParaRPr lang="en-US" sz="1000" dirty="0"/>
          </a:p>
        </p:txBody>
      </p:sp>
      <p:sp>
        <p:nvSpPr>
          <p:cNvPr id="12" name="Shape 10"/>
          <p:cNvSpPr/>
          <p:nvPr/>
        </p:nvSpPr>
        <p:spPr>
          <a:xfrm>
            <a:off x="3218688" y="3291840"/>
            <a:ext cx="182880" cy="219456"/>
          </a:xfrm>
          <a:prstGeom prst="rightArrow">
            <a:avLst/>
          </a:prstGeom>
          <a:solidFill>
            <a:srgbClr val="C3C8FC"/>
          </a:solidFill>
          <a:ln/>
        </p:spPr>
      </p:sp>
      <p:sp>
        <p:nvSpPr>
          <p:cNvPr id="13" name="Shape 11"/>
          <p:cNvSpPr/>
          <p:nvPr/>
        </p:nvSpPr>
        <p:spPr>
          <a:xfrm>
            <a:off x="3419856" y="2331720"/>
            <a:ext cx="2560320" cy="2148840"/>
          </a:xfrm>
          <a:prstGeom prst="roundRect">
            <a:avLst>
              <a:gd name="adj" fmla="val 4255"/>
            </a:avLst>
          </a:prstGeom>
          <a:solidFill>
            <a:srgbClr val="141F3D"/>
          </a:solidFill>
          <a:ln/>
        </p:spPr>
      </p:sp>
      <p:sp>
        <p:nvSpPr>
          <p:cNvPr id="14" name="Shape 12"/>
          <p:cNvSpPr/>
          <p:nvPr/>
        </p:nvSpPr>
        <p:spPr>
          <a:xfrm>
            <a:off x="3621024" y="2532888"/>
            <a:ext cx="502920" cy="502920"/>
          </a:xfrm>
          <a:prstGeom prst="ellipse">
            <a:avLst/>
          </a:prstGeom>
          <a:solidFill>
            <a:srgbClr val="1B2850"/>
          </a:solidFill>
          <a:ln/>
        </p:spPr>
      </p:sp>
      <p:sp>
        <p:nvSpPr>
          <p:cNvPr id="15" name="Shape 13"/>
          <p:cNvSpPr/>
          <p:nvPr/>
        </p:nvSpPr>
        <p:spPr>
          <a:xfrm>
            <a:off x="3746754" y="2658618"/>
            <a:ext cx="251460" cy="251460"/>
          </a:xfrm>
          <a:prstGeom prst="downArrow">
            <a:avLst/>
          </a:prstGeom>
          <a:solidFill>
            <a:srgbClr val="C3C8FC"/>
          </a:solidFill>
          <a:ln/>
        </p:spPr>
      </p:sp>
      <p:sp>
        <p:nvSpPr>
          <p:cNvPr id="16" name="Text 14"/>
          <p:cNvSpPr/>
          <p:nvPr/>
        </p:nvSpPr>
        <p:spPr>
          <a:xfrm>
            <a:off x="3621024" y="3154680"/>
            <a:ext cx="2157984" cy="365760"/>
          </a:xfrm>
          <a:prstGeom prst="rect">
            <a:avLst/>
          </a:prstGeom>
          <a:noFill/>
          <a:ln/>
        </p:spPr>
        <p:txBody>
          <a:bodyPr wrap="square" lIns="0" tIns="0" rIns="0" bIns="0" rtlCol="0" anchor="ctr"/>
          <a:lstStyle/>
          <a:p>
            <a:pPr indent="0" marL="0">
              <a:buNone/>
            </a:pPr>
            <a:r>
              <a:rPr lang="en-US" sz="1450" b="1" dirty="0">
                <a:solidFill>
                  <a:srgbClr val="F5F6FC"/>
                </a:solidFill>
                <a:latin typeface="Cambria" pitchFamily="34" charset="0"/>
                <a:ea typeface="Cambria" pitchFamily="34" charset="-122"/>
                <a:cs typeface="Cambria" pitchFamily="34" charset="-120"/>
              </a:rPr>
              <a:t>Write</a:t>
            </a:r>
            <a:endParaRPr lang="en-US" sz="1450" dirty="0"/>
          </a:p>
        </p:txBody>
      </p:sp>
      <p:sp>
        <p:nvSpPr>
          <p:cNvPr id="17" name="Text 15"/>
          <p:cNvSpPr/>
          <p:nvPr/>
        </p:nvSpPr>
        <p:spPr>
          <a:xfrm>
            <a:off x="3621024" y="3520440"/>
            <a:ext cx="2157984" cy="914400"/>
          </a:xfrm>
          <a:prstGeom prst="rect">
            <a:avLst/>
          </a:prstGeom>
          <a:noFill/>
          <a:ln/>
        </p:spPr>
        <p:txBody>
          <a:bodyPr wrap="square" lIns="0" tIns="0" rIns="0" bIns="0" rtlCol="0" anchor="ctr"/>
          <a:lstStyle/>
          <a:p>
            <a:pPr indent="0" marL="0">
              <a:lnSpc>
                <a:spcPct val="125000"/>
              </a:lnSpc>
              <a:buNone/>
            </a:pPr>
            <a:r>
              <a:rPr lang="en-US" sz="1000" dirty="0">
                <a:solidFill>
                  <a:srgbClr val="9AA3C7"/>
                </a:solidFill>
                <a:latin typeface="Calibri" pitchFamily="34" charset="0"/>
                <a:ea typeface="Calibri" pitchFamily="34" charset="-122"/>
                <a:cs typeface="Calibri" pitchFamily="34" charset="-120"/>
              </a:rPr>
              <a:t>Phone writes the doctor-prescribed voltage it last pulled from the server.</a:t>
            </a:r>
            <a:endParaRPr lang="en-US" sz="1000" dirty="0"/>
          </a:p>
        </p:txBody>
      </p:sp>
      <p:sp>
        <p:nvSpPr>
          <p:cNvPr id="18" name="Shape 16"/>
          <p:cNvSpPr/>
          <p:nvPr/>
        </p:nvSpPr>
        <p:spPr>
          <a:xfrm>
            <a:off x="5998464" y="3291840"/>
            <a:ext cx="182880" cy="219456"/>
          </a:xfrm>
          <a:prstGeom prst="rightArrow">
            <a:avLst/>
          </a:prstGeom>
          <a:solidFill>
            <a:srgbClr val="C3C8FC"/>
          </a:solidFill>
          <a:ln/>
        </p:spPr>
      </p:sp>
      <p:sp>
        <p:nvSpPr>
          <p:cNvPr id="19" name="Shape 17"/>
          <p:cNvSpPr/>
          <p:nvPr/>
        </p:nvSpPr>
        <p:spPr>
          <a:xfrm>
            <a:off x="6199632" y="2331720"/>
            <a:ext cx="2560320" cy="2148840"/>
          </a:xfrm>
          <a:prstGeom prst="roundRect">
            <a:avLst>
              <a:gd name="adj" fmla="val 4255"/>
            </a:avLst>
          </a:prstGeom>
          <a:solidFill>
            <a:srgbClr val="141F3D"/>
          </a:solidFill>
          <a:ln/>
        </p:spPr>
      </p:sp>
      <p:sp>
        <p:nvSpPr>
          <p:cNvPr id="20" name="Shape 18"/>
          <p:cNvSpPr/>
          <p:nvPr/>
        </p:nvSpPr>
        <p:spPr>
          <a:xfrm>
            <a:off x="6400800" y="2532888"/>
            <a:ext cx="502920" cy="502920"/>
          </a:xfrm>
          <a:prstGeom prst="ellipse">
            <a:avLst/>
          </a:prstGeom>
          <a:solidFill>
            <a:srgbClr val="1B2850"/>
          </a:solidFill>
          <a:ln/>
        </p:spPr>
      </p:sp>
      <p:sp>
        <p:nvSpPr>
          <p:cNvPr id="21" name="Shape 19"/>
          <p:cNvSpPr/>
          <p:nvPr/>
        </p:nvSpPr>
        <p:spPr>
          <a:xfrm>
            <a:off x="6526530" y="2658618"/>
            <a:ext cx="251460" cy="251460"/>
          </a:xfrm>
          <a:prstGeom prst="upArrow">
            <a:avLst/>
          </a:prstGeom>
          <a:solidFill>
            <a:srgbClr val="C3C8FC"/>
          </a:solidFill>
          <a:ln/>
        </p:spPr>
      </p:sp>
      <p:sp>
        <p:nvSpPr>
          <p:cNvPr id="22" name="Text 20"/>
          <p:cNvSpPr/>
          <p:nvPr/>
        </p:nvSpPr>
        <p:spPr>
          <a:xfrm>
            <a:off x="6400800" y="3154680"/>
            <a:ext cx="2157984" cy="365760"/>
          </a:xfrm>
          <a:prstGeom prst="rect">
            <a:avLst/>
          </a:prstGeom>
          <a:noFill/>
          <a:ln/>
        </p:spPr>
        <p:txBody>
          <a:bodyPr wrap="square" lIns="0" tIns="0" rIns="0" bIns="0" rtlCol="0" anchor="ctr"/>
          <a:lstStyle/>
          <a:p>
            <a:pPr indent="0" marL="0">
              <a:buNone/>
            </a:pPr>
            <a:r>
              <a:rPr lang="en-US" sz="1450" b="1" dirty="0">
                <a:solidFill>
                  <a:srgbClr val="F5F6FC"/>
                </a:solidFill>
                <a:latin typeface="Cambria" pitchFamily="34" charset="0"/>
                <a:ea typeface="Cambria" pitchFamily="34" charset="-122"/>
                <a:cs typeface="Cambria" pitchFamily="34" charset="-120"/>
              </a:rPr>
              <a:t>Read</a:t>
            </a:r>
            <a:endParaRPr lang="en-US" sz="1450" dirty="0"/>
          </a:p>
        </p:txBody>
      </p:sp>
      <p:sp>
        <p:nvSpPr>
          <p:cNvPr id="23" name="Text 21"/>
          <p:cNvSpPr/>
          <p:nvPr/>
        </p:nvSpPr>
        <p:spPr>
          <a:xfrm>
            <a:off x="6400800" y="3520440"/>
            <a:ext cx="2157984" cy="914400"/>
          </a:xfrm>
          <a:prstGeom prst="rect">
            <a:avLst/>
          </a:prstGeom>
          <a:noFill/>
          <a:ln/>
        </p:spPr>
        <p:txBody>
          <a:bodyPr wrap="square" lIns="0" tIns="0" rIns="0" bIns="0" rtlCol="0" anchor="ctr"/>
          <a:lstStyle/>
          <a:p>
            <a:pPr indent="0" marL="0">
              <a:lnSpc>
                <a:spcPct val="125000"/>
              </a:lnSpc>
              <a:buNone/>
            </a:pPr>
            <a:r>
              <a:rPr lang="en-US" sz="1000" dirty="0">
                <a:solidFill>
                  <a:srgbClr val="9AA3C7"/>
                </a:solidFill>
                <a:latin typeface="Calibri" pitchFamily="34" charset="0"/>
                <a:ea typeface="Calibri" pitchFamily="34" charset="-122"/>
                <a:cs typeface="Calibri" pitchFamily="34" charset="-120"/>
              </a:rPr>
              <a:t>Phone reads back whatever heart-rate data the implant has collected since the last visit.</a:t>
            </a:r>
            <a:endParaRPr lang="en-US" sz="1000" dirty="0"/>
          </a:p>
        </p:txBody>
      </p:sp>
      <p:sp>
        <p:nvSpPr>
          <p:cNvPr id="24" name="Shape 22"/>
          <p:cNvSpPr/>
          <p:nvPr/>
        </p:nvSpPr>
        <p:spPr>
          <a:xfrm>
            <a:off x="8778240" y="3291840"/>
            <a:ext cx="182880" cy="219456"/>
          </a:xfrm>
          <a:prstGeom prst="rightArrow">
            <a:avLst/>
          </a:prstGeom>
          <a:solidFill>
            <a:srgbClr val="C3C8FC"/>
          </a:solidFill>
          <a:ln/>
        </p:spPr>
      </p:sp>
      <p:sp>
        <p:nvSpPr>
          <p:cNvPr id="25" name="Shape 23"/>
          <p:cNvSpPr/>
          <p:nvPr/>
        </p:nvSpPr>
        <p:spPr>
          <a:xfrm>
            <a:off x="8979408" y="2331720"/>
            <a:ext cx="2560320" cy="2148840"/>
          </a:xfrm>
          <a:prstGeom prst="roundRect">
            <a:avLst>
              <a:gd name="adj" fmla="val 4255"/>
            </a:avLst>
          </a:prstGeom>
          <a:solidFill>
            <a:srgbClr val="141F3D"/>
          </a:solidFill>
          <a:ln/>
        </p:spPr>
      </p:sp>
      <p:sp>
        <p:nvSpPr>
          <p:cNvPr id="26" name="Shape 24"/>
          <p:cNvSpPr/>
          <p:nvPr/>
        </p:nvSpPr>
        <p:spPr>
          <a:xfrm>
            <a:off x="9180576" y="2532888"/>
            <a:ext cx="502920" cy="502920"/>
          </a:xfrm>
          <a:prstGeom prst="ellipse">
            <a:avLst/>
          </a:prstGeom>
          <a:solidFill>
            <a:srgbClr val="1B2850"/>
          </a:solidFill>
          <a:ln/>
        </p:spPr>
      </p:sp>
      <p:sp>
        <p:nvSpPr>
          <p:cNvPr id="27" name="Shape 25"/>
          <p:cNvSpPr/>
          <p:nvPr/>
        </p:nvSpPr>
        <p:spPr>
          <a:xfrm>
            <a:off x="9306306" y="2658618"/>
            <a:ext cx="251460" cy="251460"/>
          </a:xfrm>
          <a:prstGeom prst="noSmoking">
            <a:avLst/>
          </a:prstGeom>
          <a:solidFill>
            <a:srgbClr val="C3C8FC"/>
          </a:solidFill>
          <a:ln/>
        </p:spPr>
      </p:sp>
      <p:sp>
        <p:nvSpPr>
          <p:cNvPr id="28" name="Text 26"/>
          <p:cNvSpPr/>
          <p:nvPr/>
        </p:nvSpPr>
        <p:spPr>
          <a:xfrm>
            <a:off x="9180576" y="3154680"/>
            <a:ext cx="2157984" cy="365760"/>
          </a:xfrm>
          <a:prstGeom prst="rect">
            <a:avLst/>
          </a:prstGeom>
          <a:noFill/>
          <a:ln/>
        </p:spPr>
        <p:txBody>
          <a:bodyPr wrap="square" lIns="0" tIns="0" rIns="0" bIns="0" rtlCol="0" anchor="ctr"/>
          <a:lstStyle/>
          <a:p>
            <a:pPr indent="0" marL="0">
              <a:buNone/>
            </a:pPr>
            <a:r>
              <a:rPr lang="en-US" sz="1450" b="1" dirty="0">
                <a:solidFill>
                  <a:srgbClr val="F5F6FC"/>
                </a:solidFill>
                <a:latin typeface="Cambria" pitchFamily="34" charset="0"/>
                <a:ea typeface="Cambria" pitchFamily="34" charset="-122"/>
                <a:cs typeface="Cambria" pitchFamily="34" charset="-120"/>
              </a:rPr>
              <a:t>Disconnect</a:t>
            </a:r>
            <a:endParaRPr lang="en-US" sz="1450" dirty="0"/>
          </a:p>
        </p:txBody>
      </p:sp>
      <p:sp>
        <p:nvSpPr>
          <p:cNvPr id="29" name="Text 27"/>
          <p:cNvSpPr/>
          <p:nvPr/>
        </p:nvSpPr>
        <p:spPr>
          <a:xfrm>
            <a:off x="9180576" y="3520440"/>
            <a:ext cx="2157984" cy="914400"/>
          </a:xfrm>
          <a:prstGeom prst="rect">
            <a:avLst/>
          </a:prstGeom>
          <a:noFill/>
          <a:ln/>
        </p:spPr>
        <p:txBody>
          <a:bodyPr wrap="square" lIns="0" tIns="0" rIns="0" bIns="0" rtlCol="0" anchor="ctr"/>
          <a:lstStyle/>
          <a:p>
            <a:pPr indent="0" marL="0">
              <a:lnSpc>
                <a:spcPct val="125000"/>
              </a:lnSpc>
              <a:buNone/>
            </a:pPr>
            <a:r>
              <a:rPr lang="en-US" sz="1000" dirty="0">
                <a:solidFill>
                  <a:srgbClr val="9AA3C7"/>
                </a:solidFill>
                <a:latin typeface="Calibri" pitchFamily="34" charset="0"/>
                <a:ea typeface="Calibri" pitchFamily="34" charset="-122"/>
                <a:cs typeface="Calibri" pitchFamily="34" charset="-120"/>
              </a:rPr>
              <a:t>Session closes explicitly; the implant returns to idle/advertising-only — isolated again.</a:t>
            </a:r>
            <a:endParaRPr lang="en-US" sz="1000" dirty="0"/>
          </a:p>
        </p:txBody>
      </p:sp>
      <p:sp>
        <p:nvSpPr>
          <p:cNvPr id="30" name="Shape 28"/>
          <p:cNvSpPr/>
          <p:nvPr/>
        </p:nvSpPr>
        <p:spPr>
          <a:xfrm>
            <a:off x="640080" y="4709160"/>
            <a:ext cx="10908792" cy="1051560"/>
          </a:xfrm>
          <a:prstGeom prst="roundRect">
            <a:avLst>
              <a:gd name="adj" fmla="val 8696"/>
            </a:avLst>
          </a:prstGeom>
          <a:solidFill>
            <a:srgbClr val="141F3D"/>
          </a:solidFill>
          <a:ln/>
        </p:spPr>
      </p:sp>
      <p:sp>
        <p:nvSpPr>
          <p:cNvPr id="31" name="Text 29"/>
          <p:cNvSpPr/>
          <p:nvPr/>
        </p:nvSpPr>
        <p:spPr>
          <a:xfrm>
            <a:off x="914400" y="4910328"/>
            <a:ext cx="10424160" cy="731520"/>
          </a:xfrm>
          <a:prstGeom prst="rect">
            <a:avLst/>
          </a:prstGeom>
          <a:noFill/>
          <a:ln/>
        </p:spPr>
        <p:txBody>
          <a:bodyPr wrap="square" lIns="0" tIns="0" rIns="0" bIns="0" rtlCol="0" anchor="ctr"/>
          <a:lstStyle/>
          <a:p>
            <a:pPr indent="0" marL="0">
              <a:lnSpc>
                <a:spcPct val="130000"/>
              </a:lnSpc>
              <a:buNone/>
            </a:pPr>
            <a:r>
              <a:rPr lang="en-US" sz="2000" b="1" dirty="0">
                <a:solidFill>
                  <a:srgbClr val="FF4D5E"/>
                </a:solidFill>
                <a:latin typeface="Calibri" pitchFamily="34" charset="0"/>
                <a:ea typeface="Calibri" pitchFamily="34" charset="-122"/>
                <a:cs typeface="Calibri" pitchFamily="34" charset="-120"/>
              </a:rPr>
              <a:t>&lt; 1 second </a:t>
            </a:r>
            <a:pPr indent="0" marL="0">
              <a:lnSpc>
                <a:spcPct val="130000"/>
              </a:lnSpc>
              <a:buNone/>
            </a:pPr>
            <a:r>
              <a:rPr lang="en-US" sz="1250" dirty="0">
                <a:solidFill>
                  <a:srgbClr val="F5F6FC"/>
                </a:solidFill>
                <a:latin typeface="Calibri" pitchFamily="34" charset="0"/>
                <a:ea typeface="Calibri" pitchFamily="34" charset="-122"/>
                <a:cs typeface="Calibri" pitchFamily="34" charset="-120"/>
              </a:rPr>
              <a:t>typical connect→disconnect duration, shown live on the dashboard (e.g. “connected 41ms then isolated”)  •  </a:t>
            </a:r>
            <a:pPr indent="0" marL="0">
              <a:lnSpc>
                <a:spcPct val="130000"/>
              </a:lnSpc>
              <a:buNone/>
            </a:pPr>
            <a:r>
              <a:rPr lang="en-US" sz="1400" b="1" dirty="0">
                <a:solidFill>
                  <a:srgbClr val="FF4D5E"/>
                </a:solidFill>
                <a:latin typeface="Calibri" pitchFamily="34" charset="0"/>
                <a:ea typeface="Calibri" pitchFamily="34" charset="-122"/>
                <a:cs typeface="Calibri" pitchFamily="34" charset="-120"/>
              </a:rPr>
              <a:t>5s hard cap</a:t>
            </a:r>
            <a:pPr indent="0" marL="0">
              <a:lnSpc>
                <a:spcPct val="130000"/>
              </a:lnSpc>
              <a:buNone/>
            </a:pPr>
            <a:r>
              <a:rPr lang="en-US" sz="1250" dirty="0">
                <a:solidFill>
                  <a:srgbClr val="F5F6FC"/>
                </a:solidFill>
                <a:latin typeface="Calibri" pitchFamily="34" charset="0"/>
                <a:ea typeface="Calibri" pitchFamily="34" charset="-122"/>
                <a:cs typeface="Calibri" pitchFamily="34" charset="-120"/>
              </a:rPr>
              <a:t> — the server force-closes any session that outlives it, even after a client crash.</a:t>
            </a:r>
            <a:endParaRPr lang="en-US" sz="2000" dirty="0"/>
          </a:p>
        </p:txBody>
      </p:sp>
      <p:sp>
        <p:nvSpPr>
          <p:cNvPr id="32" name="Text 30"/>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E7E9FB"/>
          </a:solidFill>
          <a:ln/>
        </p:spPr>
      </p:sp>
      <p:sp>
        <p:nvSpPr>
          <p:cNvPr id="3" name="Shape 1"/>
          <p:cNvSpPr/>
          <p:nvPr/>
        </p:nvSpPr>
        <p:spPr>
          <a:xfrm>
            <a:off x="781812" y="662940"/>
            <a:ext cx="283464" cy="283464"/>
          </a:xfrm>
          <a:prstGeom prst="hexagon">
            <a:avLst/>
          </a:prstGeom>
          <a:solidFill>
            <a:srgbClr val="5C63B8"/>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DEFENSE RATIONALE</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Mapping the Defense to Each Attack Vector</a:t>
            </a:r>
            <a:endParaRPr lang="en-US" sz="3000" dirty="0"/>
          </a:p>
        </p:txBody>
      </p:sp>
      <p:sp>
        <p:nvSpPr>
          <p:cNvPr id="6" name="Shape 4"/>
          <p:cNvSpPr/>
          <p:nvPr/>
        </p:nvSpPr>
        <p:spPr>
          <a:xfrm>
            <a:off x="640080" y="1783080"/>
            <a:ext cx="10908792" cy="1280160"/>
          </a:xfrm>
          <a:prstGeom prst="roundRect">
            <a:avLst>
              <a:gd name="adj" fmla="val 8571"/>
            </a:avLst>
          </a:prstGeom>
          <a:solidFill>
            <a:srgbClr val="FFFFFF"/>
          </a:solidFill>
          <a:ln/>
          <a:effectLst>
            <a:outerShdw sx="100000" sy="100000" kx="0" ky="0" algn="bl" rotWithShape="0" blurRad="127000" dist="38100" dir="5400000">
              <a:srgbClr val="1B2850">
                <a:alpha val="18000"/>
              </a:srgbClr>
            </a:outerShdw>
          </a:effectLst>
        </p:spPr>
      </p:sp>
      <p:sp>
        <p:nvSpPr>
          <p:cNvPr id="7" name="Shape 5"/>
          <p:cNvSpPr/>
          <p:nvPr/>
        </p:nvSpPr>
        <p:spPr>
          <a:xfrm>
            <a:off x="868680" y="2167128"/>
            <a:ext cx="512064" cy="512064"/>
          </a:xfrm>
          <a:prstGeom prst="ellipse">
            <a:avLst/>
          </a:prstGeom>
          <a:solidFill>
            <a:srgbClr val="FDEBEC"/>
          </a:solidFill>
          <a:ln/>
        </p:spPr>
      </p:sp>
      <p:sp>
        <p:nvSpPr>
          <p:cNvPr id="8" name="Shape 6"/>
          <p:cNvSpPr/>
          <p:nvPr/>
        </p:nvSpPr>
        <p:spPr>
          <a:xfrm>
            <a:off x="996696" y="2295144"/>
            <a:ext cx="256032" cy="256032"/>
          </a:xfrm>
          <a:prstGeom prst="lightningBolt">
            <a:avLst/>
          </a:prstGeom>
          <a:solidFill>
            <a:srgbClr val="FF4D5E"/>
          </a:solidFill>
          <a:ln/>
        </p:spPr>
      </p:sp>
      <p:sp>
        <p:nvSpPr>
          <p:cNvPr id="9" name="Text 7"/>
          <p:cNvSpPr/>
          <p:nvPr/>
        </p:nvSpPr>
        <p:spPr>
          <a:xfrm>
            <a:off x="1600200" y="1920240"/>
            <a:ext cx="3017520" cy="1005840"/>
          </a:xfrm>
          <a:prstGeom prst="rect">
            <a:avLst/>
          </a:prstGeom>
          <a:noFill/>
          <a:ln/>
        </p:spPr>
        <p:txBody>
          <a:bodyPr wrap="square" lIns="0" tIns="0" rIns="0" bIns="0" rtlCol="0" anchor="ctr"/>
          <a:lstStyle/>
          <a:p>
            <a:pPr indent="0" marL="0">
              <a:lnSpc>
                <a:spcPct val="110000"/>
              </a:lnSpc>
              <a:buNone/>
            </a:pPr>
            <a:r>
              <a:rPr lang="en-US" sz="1300" b="1" dirty="0">
                <a:solidFill>
                  <a:srgbClr val="121826"/>
                </a:solidFill>
                <a:latin typeface="Cambria" pitchFamily="34" charset="0"/>
                <a:ea typeface="Cambria" pitchFamily="34" charset="-122"/>
                <a:cs typeface="Cambria" pitchFamily="34" charset="-120"/>
              </a:rPr>
              <a:t>Repeated interrogation</a:t>
            </a:r>
            <a:endParaRPr lang="en-US" sz="1300" dirty="0"/>
          </a:p>
        </p:txBody>
      </p:sp>
      <p:sp>
        <p:nvSpPr>
          <p:cNvPr id="10" name="Shape 8"/>
          <p:cNvSpPr/>
          <p:nvPr/>
        </p:nvSpPr>
        <p:spPr>
          <a:xfrm>
            <a:off x="4709160" y="2304288"/>
            <a:ext cx="457200" cy="237744"/>
          </a:xfrm>
          <a:prstGeom prst="rightArrow">
            <a:avLst/>
          </a:prstGeom>
          <a:solidFill>
            <a:srgbClr val="C7CBE8"/>
          </a:solidFill>
          <a:ln/>
        </p:spPr>
      </p:sp>
      <p:sp>
        <p:nvSpPr>
          <p:cNvPr id="11" name="Shape 9"/>
          <p:cNvSpPr/>
          <p:nvPr/>
        </p:nvSpPr>
        <p:spPr>
          <a:xfrm>
            <a:off x="5349240" y="2167128"/>
            <a:ext cx="512064" cy="512064"/>
          </a:xfrm>
          <a:prstGeom prst="ellipse">
            <a:avLst/>
          </a:prstGeom>
          <a:solidFill>
            <a:srgbClr val="E7E9FB"/>
          </a:solidFill>
          <a:ln/>
        </p:spPr>
      </p:sp>
      <p:sp>
        <p:nvSpPr>
          <p:cNvPr id="12" name="Shape 10"/>
          <p:cNvSpPr/>
          <p:nvPr/>
        </p:nvSpPr>
        <p:spPr>
          <a:xfrm>
            <a:off x="5477256" y="2295144"/>
            <a:ext cx="256032" cy="256032"/>
          </a:xfrm>
          <a:prstGeom prst="hexagon">
            <a:avLst/>
          </a:prstGeom>
          <a:solidFill>
            <a:srgbClr val="5C63B8"/>
          </a:solidFill>
          <a:ln/>
        </p:spPr>
      </p:sp>
      <p:sp>
        <p:nvSpPr>
          <p:cNvPr id="13" name="Text 11"/>
          <p:cNvSpPr/>
          <p:nvPr/>
        </p:nvSpPr>
        <p:spPr>
          <a:xfrm>
            <a:off x="6080760" y="1901952"/>
            <a:ext cx="5212080" cy="1042416"/>
          </a:xfrm>
          <a:prstGeom prst="rect">
            <a:avLst/>
          </a:prstGeom>
          <a:noFill/>
          <a:ln/>
        </p:spPr>
        <p:txBody>
          <a:bodyPr wrap="square" lIns="0" tIns="0" rIns="0" bIns="0" rtlCol="0" anchor="ctr"/>
          <a:lstStyle/>
          <a:p>
            <a:pPr indent="0" marL="0">
              <a:lnSpc>
                <a:spcPct val="125000"/>
              </a:lnSpc>
              <a:buNone/>
            </a:pPr>
            <a:r>
              <a:rPr lang="en-US" sz="1150" dirty="0">
                <a:solidFill>
                  <a:srgbClr val="5B6478"/>
                </a:solidFill>
                <a:latin typeface="Calibri" pitchFamily="34" charset="0"/>
                <a:ea typeface="Calibri" pitchFamily="34" charset="-122"/>
                <a:cs typeface="Calibri" pitchFamily="34" charset="-120"/>
              </a:rPr>
              <a:t>Radio is idle/advertising-only except a ~1s window every 30 min — there's almost nothing to interrogate.</a:t>
            </a:r>
            <a:endParaRPr lang="en-US" sz="1150" dirty="0"/>
          </a:p>
        </p:txBody>
      </p:sp>
      <p:sp>
        <p:nvSpPr>
          <p:cNvPr id="14" name="Shape 12"/>
          <p:cNvSpPr/>
          <p:nvPr/>
        </p:nvSpPr>
        <p:spPr>
          <a:xfrm>
            <a:off x="640080" y="3264408"/>
            <a:ext cx="10908792" cy="1280160"/>
          </a:xfrm>
          <a:prstGeom prst="roundRect">
            <a:avLst>
              <a:gd name="adj" fmla="val 8571"/>
            </a:avLst>
          </a:prstGeom>
          <a:solidFill>
            <a:srgbClr val="FFFFFF"/>
          </a:solidFill>
          <a:ln/>
          <a:effectLst>
            <a:outerShdw sx="100000" sy="100000" kx="0" ky="0" algn="bl" rotWithShape="0" blurRad="127000" dist="38100" dir="5400000">
              <a:srgbClr val="1B2850">
                <a:alpha val="18000"/>
              </a:srgbClr>
            </a:outerShdw>
          </a:effectLst>
        </p:spPr>
      </p:sp>
      <p:sp>
        <p:nvSpPr>
          <p:cNvPr id="15" name="Shape 13"/>
          <p:cNvSpPr/>
          <p:nvPr/>
        </p:nvSpPr>
        <p:spPr>
          <a:xfrm>
            <a:off x="868680" y="3648456"/>
            <a:ext cx="512064" cy="512064"/>
          </a:xfrm>
          <a:prstGeom prst="ellipse">
            <a:avLst/>
          </a:prstGeom>
          <a:solidFill>
            <a:srgbClr val="FDEBEC"/>
          </a:solidFill>
          <a:ln/>
        </p:spPr>
      </p:sp>
      <p:sp>
        <p:nvSpPr>
          <p:cNvPr id="16" name="Shape 14"/>
          <p:cNvSpPr/>
          <p:nvPr/>
        </p:nvSpPr>
        <p:spPr>
          <a:xfrm>
            <a:off x="996696" y="3776472"/>
            <a:ext cx="256032" cy="256032"/>
          </a:xfrm>
          <a:prstGeom prst="lightningBolt">
            <a:avLst/>
          </a:prstGeom>
          <a:solidFill>
            <a:srgbClr val="FF4D5E"/>
          </a:solidFill>
          <a:ln/>
        </p:spPr>
      </p:sp>
      <p:sp>
        <p:nvSpPr>
          <p:cNvPr id="17" name="Text 15"/>
          <p:cNvSpPr/>
          <p:nvPr/>
        </p:nvSpPr>
        <p:spPr>
          <a:xfrm>
            <a:off x="1600200" y="3401568"/>
            <a:ext cx="3017520" cy="1005840"/>
          </a:xfrm>
          <a:prstGeom prst="rect">
            <a:avLst/>
          </a:prstGeom>
          <a:noFill/>
          <a:ln/>
        </p:spPr>
        <p:txBody>
          <a:bodyPr wrap="square" lIns="0" tIns="0" rIns="0" bIns="0" rtlCol="0" anchor="ctr"/>
          <a:lstStyle/>
          <a:p>
            <a:pPr indent="0" marL="0">
              <a:lnSpc>
                <a:spcPct val="110000"/>
              </a:lnSpc>
              <a:buNone/>
            </a:pPr>
            <a:r>
              <a:rPr lang="en-US" sz="1300" b="1" dirty="0">
                <a:solidFill>
                  <a:srgbClr val="121826"/>
                </a:solidFill>
                <a:latin typeface="Cambria" pitchFamily="34" charset="0"/>
                <a:ea typeface="Cambria" pitchFamily="34" charset="-122"/>
                <a:cs typeface="Cambria" pitchFamily="34" charset="-120"/>
              </a:rPr>
              <a:t>Forced extra pacing</a:t>
            </a:r>
            <a:endParaRPr lang="en-US" sz="1300" dirty="0"/>
          </a:p>
        </p:txBody>
      </p:sp>
      <p:sp>
        <p:nvSpPr>
          <p:cNvPr id="18" name="Shape 16"/>
          <p:cNvSpPr/>
          <p:nvPr/>
        </p:nvSpPr>
        <p:spPr>
          <a:xfrm>
            <a:off x="4709160" y="3785616"/>
            <a:ext cx="457200" cy="237744"/>
          </a:xfrm>
          <a:prstGeom prst="rightArrow">
            <a:avLst/>
          </a:prstGeom>
          <a:solidFill>
            <a:srgbClr val="C7CBE8"/>
          </a:solidFill>
          <a:ln/>
        </p:spPr>
      </p:sp>
      <p:sp>
        <p:nvSpPr>
          <p:cNvPr id="19" name="Shape 17"/>
          <p:cNvSpPr/>
          <p:nvPr/>
        </p:nvSpPr>
        <p:spPr>
          <a:xfrm>
            <a:off x="5349240" y="3648456"/>
            <a:ext cx="512064" cy="512064"/>
          </a:xfrm>
          <a:prstGeom prst="ellipse">
            <a:avLst/>
          </a:prstGeom>
          <a:solidFill>
            <a:srgbClr val="E7E9FB"/>
          </a:solidFill>
          <a:ln/>
        </p:spPr>
      </p:sp>
      <p:sp>
        <p:nvSpPr>
          <p:cNvPr id="20" name="Shape 18"/>
          <p:cNvSpPr/>
          <p:nvPr/>
        </p:nvSpPr>
        <p:spPr>
          <a:xfrm>
            <a:off x="5477256" y="3776472"/>
            <a:ext cx="256032" cy="256032"/>
          </a:xfrm>
          <a:prstGeom prst="hexagon">
            <a:avLst/>
          </a:prstGeom>
          <a:solidFill>
            <a:srgbClr val="5C63B8"/>
          </a:solidFill>
          <a:ln/>
        </p:spPr>
      </p:sp>
      <p:sp>
        <p:nvSpPr>
          <p:cNvPr id="21" name="Text 19"/>
          <p:cNvSpPr/>
          <p:nvPr/>
        </p:nvSpPr>
        <p:spPr>
          <a:xfrm>
            <a:off x="6080760" y="3383280"/>
            <a:ext cx="5212080" cy="1042416"/>
          </a:xfrm>
          <a:prstGeom prst="rect">
            <a:avLst/>
          </a:prstGeom>
          <a:noFill/>
          <a:ln/>
        </p:spPr>
        <p:txBody>
          <a:bodyPr wrap="square" lIns="0" tIns="0" rIns="0" bIns="0" rtlCol="0" anchor="ctr"/>
          <a:lstStyle/>
          <a:p>
            <a:pPr indent="0" marL="0">
              <a:lnSpc>
                <a:spcPct val="125000"/>
              </a:lnSpc>
              <a:buNone/>
            </a:pPr>
            <a:r>
              <a:rPr lang="en-US" sz="1150" dirty="0">
                <a:solidFill>
                  <a:srgbClr val="5B6478"/>
                </a:solidFill>
                <a:latin typeface="Calibri" pitchFamily="34" charset="0"/>
                <a:ea typeface="Calibri" pitchFamily="34" charset="-122"/>
                <a:cs typeface="Calibri" pitchFamily="34" charset="-120"/>
              </a:rPr>
              <a:t>Only a server-vetted, doctor-issued, 0.5–7.5V-bounded instruction is ever relayed — no external party can inject one.</a:t>
            </a:r>
            <a:endParaRPr lang="en-US" sz="1150" dirty="0"/>
          </a:p>
        </p:txBody>
      </p:sp>
      <p:sp>
        <p:nvSpPr>
          <p:cNvPr id="22" name="Shape 20"/>
          <p:cNvSpPr/>
          <p:nvPr/>
        </p:nvSpPr>
        <p:spPr>
          <a:xfrm>
            <a:off x="640080" y="4745736"/>
            <a:ext cx="10908792" cy="1280160"/>
          </a:xfrm>
          <a:prstGeom prst="roundRect">
            <a:avLst>
              <a:gd name="adj" fmla="val 8571"/>
            </a:avLst>
          </a:prstGeom>
          <a:solidFill>
            <a:srgbClr val="FFFFFF"/>
          </a:solidFill>
          <a:ln/>
          <a:effectLst>
            <a:outerShdw sx="100000" sy="100000" kx="0" ky="0" algn="bl" rotWithShape="0" blurRad="127000" dist="38100" dir="5400000">
              <a:srgbClr val="1B2850">
                <a:alpha val="18000"/>
              </a:srgbClr>
            </a:outerShdw>
          </a:effectLst>
        </p:spPr>
      </p:sp>
      <p:sp>
        <p:nvSpPr>
          <p:cNvPr id="23" name="Shape 21"/>
          <p:cNvSpPr/>
          <p:nvPr/>
        </p:nvSpPr>
        <p:spPr>
          <a:xfrm>
            <a:off x="868680" y="5129784"/>
            <a:ext cx="512064" cy="512064"/>
          </a:xfrm>
          <a:prstGeom prst="ellipse">
            <a:avLst/>
          </a:prstGeom>
          <a:solidFill>
            <a:srgbClr val="FDEBEC"/>
          </a:solidFill>
          <a:ln/>
        </p:spPr>
      </p:sp>
      <p:sp>
        <p:nvSpPr>
          <p:cNvPr id="24" name="Shape 22"/>
          <p:cNvSpPr/>
          <p:nvPr/>
        </p:nvSpPr>
        <p:spPr>
          <a:xfrm>
            <a:off x="996696" y="5257800"/>
            <a:ext cx="256032" cy="256032"/>
          </a:xfrm>
          <a:prstGeom prst="lightningBolt">
            <a:avLst/>
          </a:prstGeom>
          <a:solidFill>
            <a:srgbClr val="FF4D5E"/>
          </a:solidFill>
          <a:ln/>
        </p:spPr>
      </p:sp>
      <p:sp>
        <p:nvSpPr>
          <p:cNvPr id="25" name="Text 23"/>
          <p:cNvSpPr/>
          <p:nvPr/>
        </p:nvSpPr>
        <p:spPr>
          <a:xfrm>
            <a:off x="1600200" y="4882896"/>
            <a:ext cx="3017520" cy="1005840"/>
          </a:xfrm>
          <a:prstGeom prst="rect">
            <a:avLst/>
          </a:prstGeom>
          <a:noFill/>
          <a:ln/>
        </p:spPr>
        <p:txBody>
          <a:bodyPr wrap="square" lIns="0" tIns="0" rIns="0" bIns="0" rtlCol="0" anchor="ctr"/>
          <a:lstStyle/>
          <a:p>
            <a:pPr indent="0" marL="0">
              <a:lnSpc>
                <a:spcPct val="110000"/>
              </a:lnSpc>
              <a:buNone/>
            </a:pPr>
            <a:r>
              <a:rPr lang="en-US" sz="1300" b="1" dirty="0">
                <a:solidFill>
                  <a:srgbClr val="121826"/>
                </a:solidFill>
                <a:latin typeface="Cambria" pitchFamily="34" charset="0"/>
                <a:ea typeface="Cambria" pitchFamily="34" charset="-122"/>
                <a:cs typeface="Cambria" pitchFamily="34" charset="-120"/>
              </a:rPr>
              <a:t>Extended listening windows</a:t>
            </a:r>
            <a:endParaRPr lang="en-US" sz="1300" dirty="0"/>
          </a:p>
        </p:txBody>
      </p:sp>
      <p:sp>
        <p:nvSpPr>
          <p:cNvPr id="26" name="Shape 24"/>
          <p:cNvSpPr/>
          <p:nvPr/>
        </p:nvSpPr>
        <p:spPr>
          <a:xfrm>
            <a:off x="4709160" y="5266944"/>
            <a:ext cx="457200" cy="237744"/>
          </a:xfrm>
          <a:prstGeom prst="rightArrow">
            <a:avLst/>
          </a:prstGeom>
          <a:solidFill>
            <a:srgbClr val="C7CBE8"/>
          </a:solidFill>
          <a:ln/>
        </p:spPr>
      </p:sp>
      <p:sp>
        <p:nvSpPr>
          <p:cNvPr id="27" name="Shape 25"/>
          <p:cNvSpPr/>
          <p:nvPr/>
        </p:nvSpPr>
        <p:spPr>
          <a:xfrm>
            <a:off x="5349240" y="5129784"/>
            <a:ext cx="512064" cy="512064"/>
          </a:xfrm>
          <a:prstGeom prst="ellipse">
            <a:avLst/>
          </a:prstGeom>
          <a:solidFill>
            <a:srgbClr val="E7E9FB"/>
          </a:solidFill>
          <a:ln/>
        </p:spPr>
      </p:sp>
      <p:sp>
        <p:nvSpPr>
          <p:cNvPr id="28" name="Shape 26"/>
          <p:cNvSpPr/>
          <p:nvPr/>
        </p:nvSpPr>
        <p:spPr>
          <a:xfrm>
            <a:off x="5477256" y="5257800"/>
            <a:ext cx="256032" cy="256032"/>
          </a:xfrm>
          <a:prstGeom prst="hexagon">
            <a:avLst/>
          </a:prstGeom>
          <a:solidFill>
            <a:srgbClr val="5C63B8"/>
          </a:solidFill>
          <a:ln/>
        </p:spPr>
      </p:sp>
      <p:sp>
        <p:nvSpPr>
          <p:cNvPr id="29" name="Text 27"/>
          <p:cNvSpPr/>
          <p:nvPr/>
        </p:nvSpPr>
        <p:spPr>
          <a:xfrm>
            <a:off x="6080760" y="4864608"/>
            <a:ext cx="5212080" cy="1042416"/>
          </a:xfrm>
          <a:prstGeom prst="rect">
            <a:avLst/>
          </a:prstGeom>
          <a:noFill/>
          <a:ln/>
        </p:spPr>
        <p:txBody>
          <a:bodyPr wrap="square" lIns="0" tIns="0" rIns="0" bIns="0" rtlCol="0" anchor="ctr"/>
          <a:lstStyle/>
          <a:p>
            <a:pPr indent="0" marL="0">
              <a:lnSpc>
                <a:spcPct val="125000"/>
              </a:lnSpc>
              <a:buNone/>
            </a:pPr>
            <a:r>
              <a:rPr lang="en-US" sz="1150" dirty="0">
                <a:solidFill>
                  <a:srgbClr val="5B6478"/>
                </a:solidFill>
                <a:latin typeface="Calibri" pitchFamily="34" charset="0"/>
                <a:ea typeface="Calibri" pitchFamily="34" charset="-122"/>
                <a:cs typeface="Calibri" pitchFamily="34" charset="-120"/>
              </a:rPr>
              <a:t>Sessions self-close in milliseconds; a 5s hard timeout force-closes stragglers; every response sends Connection: close.</a:t>
            </a:r>
            <a:endParaRPr lang="en-US" sz="1150" dirty="0"/>
          </a:p>
        </p:txBody>
      </p:sp>
      <p:sp>
        <p:nvSpPr>
          <p:cNvPr id="30" name="Text 28"/>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141F3D"/>
          </a:solidFill>
          <a:ln/>
        </p:spPr>
      </p:sp>
      <p:sp>
        <p:nvSpPr>
          <p:cNvPr id="3" name="Shape 1"/>
          <p:cNvSpPr/>
          <p:nvPr/>
        </p:nvSpPr>
        <p:spPr>
          <a:xfrm>
            <a:off x="781812" y="662940"/>
            <a:ext cx="283464" cy="283464"/>
          </a:xfrm>
          <a:prstGeom prst="noSmoking">
            <a:avLst/>
          </a:prstGeom>
          <a:solidFill>
            <a:srgbClr val="C3C8FC"/>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C3C8FC"/>
                </a:solidFill>
                <a:latin typeface="Calibri" pitchFamily="34" charset="0"/>
                <a:ea typeface="Calibri" pitchFamily="34" charset="-122"/>
                <a:cs typeface="Calibri" pitchFamily="34" charset="-120"/>
              </a:rPr>
              <a:t>DEFENSE IN DEPTH</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F5F6FC"/>
                </a:solidFill>
                <a:latin typeface="Cambria" pitchFamily="34" charset="0"/>
                <a:ea typeface="Cambria" pitchFamily="34" charset="-122"/>
                <a:cs typeface="Cambria" pitchFamily="34" charset="-120"/>
              </a:rPr>
              <a:t>Safeguards Beyond Isolation</a:t>
            </a:r>
            <a:endParaRPr lang="en-US" sz="3000" dirty="0"/>
          </a:p>
        </p:txBody>
      </p:sp>
      <p:sp>
        <p:nvSpPr>
          <p:cNvPr id="6" name="Shape 4"/>
          <p:cNvSpPr/>
          <p:nvPr/>
        </p:nvSpPr>
        <p:spPr>
          <a:xfrm>
            <a:off x="640080" y="1783080"/>
            <a:ext cx="5212080" cy="2103120"/>
          </a:xfrm>
          <a:prstGeom prst="roundRect">
            <a:avLst>
              <a:gd name="adj" fmla="val 4348"/>
            </a:avLst>
          </a:prstGeom>
          <a:solidFill>
            <a:srgbClr val="141F3D"/>
          </a:solidFill>
          <a:ln/>
        </p:spPr>
      </p:sp>
      <p:sp>
        <p:nvSpPr>
          <p:cNvPr id="7" name="Shape 5"/>
          <p:cNvSpPr/>
          <p:nvPr/>
        </p:nvSpPr>
        <p:spPr>
          <a:xfrm>
            <a:off x="896112" y="2039112"/>
            <a:ext cx="530352" cy="530352"/>
          </a:xfrm>
          <a:prstGeom prst="ellipse">
            <a:avLst/>
          </a:prstGeom>
          <a:solidFill>
            <a:srgbClr val="1B2850"/>
          </a:solidFill>
          <a:ln/>
        </p:spPr>
      </p:sp>
      <p:sp>
        <p:nvSpPr>
          <p:cNvPr id="8" name="Shape 6"/>
          <p:cNvSpPr/>
          <p:nvPr/>
        </p:nvSpPr>
        <p:spPr>
          <a:xfrm>
            <a:off x="1028700" y="2171700"/>
            <a:ext cx="265176" cy="265176"/>
          </a:xfrm>
          <a:prstGeom prst="hexagon">
            <a:avLst/>
          </a:prstGeom>
          <a:solidFill>
            <a:srgbClr val="C3C8FC"/>
          </a:solidFill>
          <a:ln/>
        </p:spPr>
      </p:sp>
      <p:sp>
        <p:nvSpPr>
          <p:cNvPr id="9" name="Text 7"/>
          <p:cNvSpPr/>
          <p:nvPr/>
        </p:nvSpPr>
        <p:spPr>
          <a:xfrm>
            <a:off x="1600200" y="2020824"/>
            <a:ext cx="4023360" cy="54864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Token authentication</a:t>
            </a:r>
            <a:endParaRPr lang="en-US" sz="1450" dirty="0"/>
          </a:p>
        </p:txBody>
      </p:sp>
      <p:sp>
        <p:nvSpPr>
          <p:cNvPr id="10" name="Text 8"/>
          <p:cNvSpPr/>
          <p:nvPr/>
        </p:nvSpPr>
        <p:spPr>
          <a:xfrm>
            <a:off x="896112" y="256032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9AA3C7"/>
                </a:solidFill>
                <a:latin typeface="Calibri" pitchFamily="34" charset="0"/>
                <a:ea typeface="Calibri" pitchFamily="34" charset="-122"/>
                <a:cs typeface="Calibri" pitchFamily="34" charset="-120"/>
              </a:rPr>
              <a:t>Every hospital-app ↔ server and phone ↔ server call requires a bearer token; no session cookies to hijack.</a:t>
            </a:r>
            <a:endParaRPr lang="en-US" sz="1250" dirty="0"/>
          </a:p>
        </p:txBody>
      </p:sp>
      <p:sp>
        <p:nvSpPr>
          <p:cNvPr id="11" name="Shape 9"/>
          <p:cNvSpPr/>
          <p:nvPr/>
        </p:nvSpPr>
        <p:spPr>
          <a:xfrm>
            <a:off x="6172200" y="1783080"/>
            <a:ext cx="5212080" cy="2103120"/>
          </a:xfrm>
          <a:prstGeom prst="roundRect">
            <a:avLst>
              <a:gd name="adj" fmla="val 4348"/>
            </a:avLst>
          </a:prstGeom>
          <a:solidFill>
            <a:srgbClr val="141F3D"/>
          </a:solidFill>
          <a:ln/>
        </p:spPr>
      </p:sp>
      <p:sp>
        <p:nvSpPr>
          <p:cNvPr id="12" name="Shape 10"/>
          <p:cNvSpPr/>
          <p:nvPr/>
        </p:nvSpPr>
        <p:spPr>
          <a:xfrm>
            <a:off x="6428232" y="2039112"/>
            <a:ext cx="530352" cy="530352"/>
          </a:xfrm>
          <a:prstGeom prst="ellipse">
            <a:avLst/>
          </a:prstGeom>
          <a:solidFill>
            <a:srgbClr val="1B2850"/>
          </a:solidFill>
          <a:ln/>
        </p:spPr>
      </p:sp>
      <p:sp>
        <p:nvSpPr>
          <p:cNvPr id="13" name="Shape 11"/>
          <p:cNvSpPr/>
          <p:nvPr/>
        </p:nvSpPr>
        <p:spPr>
          <a:xfrm>
            <a:off x="6560820" y="2171700"/>
            <a:ext cx="265176" cy="265176"/>
          </a:xfrm>
          <a:prstGeom prst="blockArc">
            <a:avLst/>
          </a:prstGeom>
          <a:solidFill>
            <a:srgbClr val="C3C8FC"/>
          </a:solidFill>
          <a:ln/>
        </p:spPr>
      </p:sp>
      <p:sp>
        <p:nvSpPr>
          <p:cNvPr id="14" name="Text 12"/>
          <p:cNvSpPr/>
          <p:nvPr/>
        </p:nvSpPr>
        <p:spPr>
          <a:xfrm>
            <a:off x="7132320" y="2020824"/>
            <a:ext cx="4023360" cy="54864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Server-enforced voltage bounds</a:t>
            </a:r>
            <a:endParaRPr lang="en-US" sz="1450" dirty="0"/>
          </a:p>
        </p:txBody>
      </p:sp>
      <p:sp>
        <p:nvSpPr>
          <p:cNvPr id="15" name="Text 13"/>
          <p:cNvSpPr/>
          <p:nvPr/>
        </p:nvSpPr>
        <p:spPr>
          <a:xfrm>
            <a:off x="6428232" y="256032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9AA3C7"/>
                </a:solidFill>
                <a:latin typeface="Calibri" pitchFamily="34" charset="0"/>
                <a:ea typeface="Calibri" pitchFamily="34" charset="-122"/>
                <a:cs typeface="Calibri" pitchFamily="34" charset="-120"/>
              </a:rPr>
              <a:t>0.5V–7.5V is enforced in the data model itself, not just the UI — a compromised client still can't request an unsafe value.</a:t>
            </a:r>
            <a:endParaRPr lang="en-US" sz="1250" dirty="0"/>
          </a:p>
        </p:txBody>
      </p:sp>
      <p:sp>
        <p:nvSpPr>
          <p:cNvPr id="16" name="Shape 14"/>
          <p:cNvSpPr/>
          <p:nvPr/>
        </p:nvSpPr>
        <p:spPr>
          <a:xfrm>
            <a:off x="640080" y="4160520"/>
            <a:ext cx="5212080" cy="2103120"/>
          </a:xfrm>
          <a:prstGeom prst="roundRect">
            <a:avLst>
              <a:gd name="adj" fmla="val 4348"/>
            </a:avLst>
          </a:prstGeom>
          <a:solidFill>
            <a:srgbClr val="141F3D"/>
          </a:solidFill>
          <a:ln/>
        </p:spPr>
      </p:sp>
      <p:sp>
        <p:nvSpPr>
          <p:cNvPr id="17" name="Shape 15"/>
          <p:cNvSpPr/>
          <p:nvPr/>
        </p:nvSpPr>
        <p:spPr>
          <a:xfrm>
            <a:off x="896112" y="4416552"/>
            <a:ext cx="530352" cy="530352"/>
          </a:xfrm>
          <a:prstGeom prst="ellipse">
            <a:avLst/>
          </a:prstGeom>
          <a:solidFill>
            <a:srgbClr val="1B2850"/>
          </a:solidFill>
          <a:ln/>
        </p:spPr>
      </p:sp>
      <p:sp>
        <p:nvSpPr>
          <p:cNvPr id="18" name="Shape 16"/>
          <p:cNvSpPr/>
          <p:nvPr/>
        </p:nvSpPr>
        <p:spPr>
          <a:xfrm>
            <a:off x="1028700" y="4549140"/>
            <a:ext cx="265176" cy="265176"/>
          </a:xfrm>
          <a:prstGeom prst="flowChartDecision">
            <a:avLst/>
          </a:prstGeom>
          <a:solidFill>
            <a:srgbClr val="C3C8FC"/>
          </a:solidFill>
          <a:ln/>
        </p:spPr>
      </p:sp>
      <p:sp>
        <p:nvSpPr>
          <p:cNvPr id="19" name="Text 17"/>
          <p:cNvSpPr/>
          <p:nvPr/>
        </p:nvSpPr>
        <p:spPr>
          <a:xfrm>
            <a:off x="1600200" y="4398264"/>
            <a:ext cx="4023360" cy="54864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Acknowledged, not blind-pushed</a:t>
            </a:r>
            <a:endParaRPr lang="en-US" sz="1450" dirty="0"/>
          </a:p>
        </p:txBody>
      </p:sp>
      <p:sp>
        <p:nvSpPr>
          <p:cNvPr id="20" name="Text 18"/>
          <p:cNvSpPr/>
          <p:nvPr/>
        </p:nvSpPr>
        <p:spPr>
          <a:xfrm>
            <a:off x="896112" y="493776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9AA3C7"/>
                </a:solidFill>
                <a:latin typeface="Calibri" pitchFamily="34" charset="0"/>
                <a:ea typeface="Calibri" pitchFamily="34" charset="-122"/>
                <a:cs typeface="Calibri" pitchFamily="34" charset="-120"/>
              </a:rPr>
              <a:t>A voltage change is marked pushed only after the phone confirms what it actually wrote — no fire-and-forget commands to the implant.</a:t>
            </a:r>
            <a:endParaRPr lang="en-US" sz="1250" dirty="0"/>
          </a:p>
        </p:txBody>
      </p:sp>
      <p:sp>
        <p:nvSpPr>
          <p:cNvPr id="21" name="Shape 19"/>
          <p:cNvSpPr/>
          <p:nvPr/>
        </p:nvSpPr>
        <p:spPr>
          <a:xfrm>
            <a:off x="6172200" y="4160520"/>
            <a:ext cx="5212080" cy="2103120"/>
          </a:xfrm>
          <a:prstGeom prst="roundRect">
            <a:avLst>
              <a:gd name="adj" fmla="val 4348"/>
            </a:avLst>
          </a:prstGeom>
          <a:solidFill>
            <a:srgbClr val="141F3D"/>
          </a:solidFill>
          <a:ln/>
        </p:spPr>
      </p:sp>
      <p:sp>
        <p:nvSpPr>
          <p:cNvPr id="22" name="Shape 20"/>
          <p:cNvSpPr/>
          <p:nvPr/>
        </p:nvSpPr>
        <p:spPr>
          <a:xfrm>
            <a:off x="6428232" y="4416552"/>
            <a:ext cx="530352" cy="530352"/>
          </a:xfrm>
          <a:prstGeom prst="ellipse">
            <a:avLst/>
          </a:prstGeom>
          <a:solidFill>
            <a:srgbClr val="1B2850"/>
          </a:solidFill>
          <a:ln/>
        </p:spPr>
      </p:sp>
      <p:sp>
        <p:nvSpPr>
          <p:cNvPr id="23" name="Shape 21"/>
          <p:cNvSpPr/>
          <p:nvPr/>
        </p:nvSpPr>
        <p:spPr>
          <a:xfrm>
            <a:off x="6560820" y="4549140"/>
            <a:ext cx="265176" cy="265176"/>
          </a:xfrm>
          <a:prstGeom prst="noSmoking">
            <a:avLst/>
          </a:prstGeom>
          <a:solidFill>
            <a:srgbClr val="C3C8FC"/>
          </a:solidFill>
          <a:ln/>
        </p:spPr>
      </p:sp>
      <p:sp>
        <p:nvSpPr>
          <p:cNvPr id="24" name="Text 22"/>
          <p:cNvSpPr/>
          <p:nvPr/>
        </p:nvSpPr>
        <p:spPr>
          <a:xfrm>
            <a:off x="7132320" y="4398264"/>
            <a:ext cx="4023360" cy="548640"/>
          </a:xfrm>
          <a:prstGeom prst="rect">
            <a:avLst/>
          </a:prstGeom>
          <a:noFill/>
          <a:ln/>
        </p:spPr>
        <p:txBody>
          <a:bodyPr wrap="square" lIns="0" tIns="0" rIns="0" bIns="0" rtlCol="0" anchor="ctr"/>
          <a:lstStyle/>
          <a:p>
            <a:pPr indent="0" marL="0">
              <a:lnSpc>
                <a:spcPct val="110000"/>
              </a:lnSpc>
              <a:buNone/>
            </a:pPr>
            <a:r>
              <a:rPr lang="en-US" sz="1450" b="1" dirty="0">
                <a:solidFill>
                  <a:srgbClr val="F5F6FC"/>
                </a:solidFill>
                <a:latin typeface="Cambria" pitchFamily="34" charset="0"/>
                <a:ea typeface="Cambria" pitchFamily="34" charset="-122"/>
                <a:cs typeface="Cambria" pitchFamily="34" charset="-120"/>
              </a:rPr>
              <a:t>Self-expiring sessions</a:t>
            </a:r>
            <a:endParaRPr lang="en-US" sz="1450" dirty="0"/>
          </a:p>
        </p:txBody>
      </p:sp>
      <p:sp>
        <p:nvSpPr>
          <p:cNvPr id="25" name="Text 23"/>
          <p:cNvSpPr/>
          <p:nvPr/>
        </p:nvSpPr>
        <p:spPr>
          <a:xfrm>
            <a:off x="6428232" y="493776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9AA3C7"/>
                </a:solidFill>
                <a:latin typeface="Calibri" pitchFamily="34" charset="0"/>
                <a:ea typeface="Calibri" pitchFamily="34" charset="-122"/>
                <a:cs typeface="Calibri" pitchFamily="34" charset="-120"/>
              </a:rPr>
              <a:t>A 5-second server-side timeout closes any session the client doesn't, even after a crash — isolation never depends on the client behaving.</a:t>
            </a:r>
            <a:endParaRPr lang="en-US" sz="1250" dirty="0"/>
          </a:p>
        </p:txBody>
      </p:sp>
      <p:sp>
        <p:nvSpPr>
          <p:cNvPr id="26" name="Text 24"/>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9AA3C7"/>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FDEBEC"/>
          </a:solidFill>
          <a:ln/>
        </p:spPr>
      </p:sp>
      <p:sp>
        <p:nvSpPr>
          <p:cNvPr id="3" name="Shape 1"/>
          <p:cNvSpPr/>
          <p:nvPr/>
        </p:nvSpPr>
        <p:spPr>
          <a:xfrm>
            <a:off x="781812" y="662940"/>
            <a:ext cx="283464" cy="283464"/>
          </a:xfrm>
          <a:prstGeom prst="flowChartDecision">
            <a:avLst/>
          </a:prstGeom>
          <a:solidFill>
            <a:srgbClr val="FF4D5E"/>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HONEST ASSESSMENT</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Challenges &amp; Limitations</a:t>
            </a:r>
            <a:endParaRPr lang="en-US" sz="3000" dirty="0"/>
          </a:p>
        </p:txBody>
      </p:sp>
      <p:sp>
        <p:nvSpPr>
          <p:cNvPr id="6" name="Shape 4"/>
          <p:cNvSpPr/>
          <p:nvPr/>
        </p:nvSpPr>
        <p:spPr>
          <a:xfrm>
            <a:off x="640080" y="178308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7" name="Shape 5"/>
          <p:cNvSpPr/>
          <p:nvPr/>
        </p:nvSpPr>
        <p:spPr>
          <a:xfrm>
            <a:off x="896112" y="2039112"/>
            <a:ext cx="512064" cy="512064"/>
          </a:xfrm>
          <a:prstGeom prst="ellipse">
            <a:avLst/>
          </a:prstGeom>
          <a:solidFill>
            <a:srgbClr val="FDEBEC"/>
          </a:solidFill>
          <a:ln/>
        </p:spPr>
      </p:sp>
      <p:sp>
        <p:nvSpPr>
          <p:cNvPr id="8" name="Shape 6"/>
          <p:cNvSpPr/>
          <p:nvPr/>
        </p:nvSpPr>
        <p:spPr>
          <a:xfrm>
            <a:off x="1024128" y="2167128"/>
            <a:ext cx="256032" cy="256032"/>
          </a:xfrm>
          <a:prstGeom prst="flowChartPreparation">
            <a:avLst/>
          </a:prstGeom>
          <a:solidFill>
            <a:srgbClr val="FF4D5E"/>
          </a:solidFill>
          <a:ln/>
        </p:spPr>
      </p:sp>
      <p:sp>
        <p:nvSpPr>
          <p:cNvPr id="9" name="Text 7"/>
          <p:cNvSpPr/>
          <p:nvPr/>
        </p:nvSpPr>
        <p:spPr>
          <a:xfrm>
            <a:off x="1572768" y="2020824"/>
            <a:ext cx="4023360" cy="548640"/>
          </a:xfrm>
          <a:prstGeom prst="rect">
            <a:avLst/>
          </a:prstGeom>
          <a:noFill/>
          <a:ln/>
        </p:spPr>
        <p:txBody>
          <a:bodyPr wrap="square" lIns="0" tIns="0" rIns="0" bIns="0" rtlCol="0" anchor="ctr"/>
          <a:lstStyle/>
          <a:p>
            <a:pPr indent="0" marL="0">
              <a:lnSpc>
                <a:spcPct val="110000"/>
              </a:lnSpc>
              <a:buNone/>
            </a:pPr>
            <a:r>
              <a:rPr lang="en-US" sz="1400" b="1" dirty="0">
                <a:solidFill>
                  <a:srgbClr val="121826"/>
                </a:solidFill>
                <a:latin typeface="Cambria" pitchFamily="34" charset="0"/>
                <a:ea typeface="Cambria" pitchFamily="34" charset="-122"/>
                <a:cs typeface="Cambria" pitchFamily="34" charset="-120"/>
              </a:rPr>
              <a:t>No physical BLE hardware yet</a:t>
            </a:r>
            <a:endParaRPr lang="en-US" sz="1400" dirty="0"/>
          </a:p>
        </p:txBody>
      </p:sp>
      <p:sp>
        <p:nvSpPr>
          <p:cNvPr id="10" name="Text 8"/>
          <p:cNvSpPr/>
          <p:nvPr/>
        </p:nvSpPr>
        <p:spPr>
          <a:xfrm>
            <a:off x="896112" y="256032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5B6478"/>
                </a:solidFill>
                <a:latin typeface="Calibri" pitchFamily="34" charset="0"/>
                <a:ea typeface="Calibri" pitchFamily="34" charset="-122"/>
                <a:cs typeface="Calibri" pitchFamily="34" charset="-120"/>
              </a:rPr>
              <a:t>The demoed link uses an HTTP-based simulator standing in for real GATT; behavior is modeled, not measured on radio hardware.</a:t>
            </a:r>
            <a:endParaRPr lang="en-US" sz="1250" dirty="0"/>
          </a:p>
        </p:txBody>
      </p:sp>
      <p:sp>
        <p:nvSpPr>
          <p:cNvPr id="11" name="Shape 9"/>
          <p:cNvSpPr/>
          <p:nvPr/>
        </p:nvSpPr>
        <p:spPr>
          <a:xfrm>
            <a:off x="6172200" y="178308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12" name="Shape 10"/>
          <p:cNvSpPr/>
          <p:nvPr/>
        </p:nvSpPr>
        <p:spPr>
          <a:xfrm>
            <a:off x="6428232" y="2039112"/>
            <a:ext cx="512064" cy="512064"/>
          </a:xfrm>
          <a:prstGeom prst="ellipse">
            <a:avLst/>
          </a:prstGeom>
          <a:solidFill>
            <a:srgbClr val="FDEBEC"/>
          </a:solidFill>
          <a:ln/>
        </p:spPr>
      </p:sp>
      <p:sp>
        <p:nvSpPr>
          <p:cNvPr id="13" name="Shape 11"/>
          <p:cNvSpPr/>
          <p:nvPr/>
        </p:nvSpPr>
        <p:spPr>
          <a:xfrm>
            <a:off x="6556248" y="2167128"/>
            <a:ext cx="256032" cy="256032"/>
          </a:xfrm>
          <a:prstGeom prst="flowChartPreparation">
            <a:avLst/>
          </a:prstGeom>
          <a:solidFill>
            <a:srgbClr val="FF4D5E"/>
          </a:solidFill>
          <a:ln/>
        </p:spPr>
      </p:sp>
      <p:sp>
        <p:nvSpPr>
          <p:cNvPr id="14" name="Text 12"/>
          <p:cNvSpPr/>
          <p:nvPr/>
        </p:nvSpPr>
        <p:spPr>
          <a:xfrm>
            <a:off x="7104888" y="2020824"/>
            <a:ext cx="4023360" cy="548640"/>
          </a:xfrm>
          <a:prstGeom prst="rect">
            <a:avLst/>
          </a:prstGeom>
          <a:noFill/>
          <a:ln/>
        </p:spPr>
        <p:txBody>
          <a:bodyPr wrap="square" lIns="0" tIns="0" rIns="0" bIns="0" rtlCol="0" anchor="ctr"/>
          <a:lstStyle/>
          <a:p>
            <a:pPr indent="0" marL="0">
              <a:lnSpc>
                <a:spcPct val="110000"/>
              </a:lnSpc>
              <a:buNone/>
            </a:pPr>
            <a:r>
              <a:rPr lang="en-US" sz="1400" b="1" dirty="0">
                <a:solidFill>
                  <a:srgbClr val="121826"/>
                </a:solidFill>
                <a:latin typeface="Cambria" pitchFamily="34" charset="0"/>
                <a:ea typeface="Cambria" pitchFamily="34" charset="-122"/>
                <a:cs typeface="Cambria" pitchFamily="34" charset="-120"/>
              </a:rPr>
              <a:t>Phone is a single point of trust</a:t>
            </a:r>
            <a:endParaRPr lang="en-US" sz="1400" dirty="0"/>
          </a:p>
        </p:txBody>
      </p:sp>
      <p:sp>
        <p:nvSpPr>
          <p:cNvPr id="15" name="Text 13"/>
          <p:cNvSpPr/>
          <p:nvPr/>
        </p:nvSpPr>
        <p:spPr>
          <a:xfrm>
            <a:off x="6428232" y="256032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5B6478"/>
                </a:solidFill>
                <a:latin typeface="Calibri" pitchFamily="34" charset="0"/>
                <a:ea typeface="Calibri" pitchFamily="34" charset="-122"/>
                <a:cs typeface="Calibri" pitchFamily="34" charset="-120"/>
              </a:rPr>
              <a:t>If the paired phone itself is compromised, it's still the one party allowed to reach the implant.</a:t>
            </a:r>
            <a:endParaRPr lang="en-US" sz="1250" dirty="0"/>
          </a:p>
        </p:txBody>
      </p:sp>
      <p:sp>
        <p:nvSpPr>
          <p:cNvPr id="16" name="Shape 14"/>
          <p:cNvSpPr/>
          <p:nvPr/>
        </p:nvSpPr>
        <p:spPr>
          <a:xfrm>
            <a:off x="640080" y="416052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17" name="Shape 15"/>
          <p:cNvSpPr/>
          <p:nvPr/>
        </p:nvSpPr>
        <p:spPr>
          <a:xfrm>
            <a:off x="896112" y="4416552"/>
            <a:ext cx="512064" cy="512064"/>
          </a:xfrm>
          <a:prstGeom prst="ellipse">
            <a:avLst/>
          </a:prstGeom>
          <a:solidFill>
            <a:srgbClr val="FDEBEC"/>
          </a:solidFill>
          <a:ln/>
        </p:spPr>
      </p:sp>
      <p:sp>
        <p:nvSpPr>
          <p:cNvPr id="18" name="Shape 16"/>
          <p:cNvSpPr/>
          <p:nvPr/>
        </p:nvSpPr>
        <p:spPr>
          <a:xfrm>
            <a:off x="1024128" y="4544568"/>
            <a:ext cx="256032" cy="256032"/>
          </a:xfrm>
          <a:prstGeom prst="flowChartPreparation">
            <a:avLst/>
          </a:prstGeom>
          <a:solidFill>
            <a:srgbClr val="FF4D5E"/>
          </a:solidFill>
          <a:ln/>
        </p:spPr>
      </p:sp>
      <p:sp>
        <p:nvSpPr>
          <p:cNvPr id="19" name="Text 17"/>
          <p:cNvSpPr/>
          <p:nvPr/>
        </p:nvSpPr>
        <p:spPr>
          <a:xfrm>
            <a:off x="1572768" y="4398264"/>
            <a:ext cx="4023360" cy="548640"/>
          </a:xfrm>
          <a:prstGeom prst="rect">
            <a:avLst/>
          </a:prstGeom>
          <a:noFill/>
          <a:ln/>
        </p:spPr>
        <p:txBody>
          <a:bodyPr wrap="square" lIns="0" tIns="0" rIns="0" bIns="0" rtlCol="0" anchor="ctr"/>
          <a:lstStyle/>
          <a:p>
            <a:pPr indent="0" marL="0">
              <a:lnSpc>
                <a:spcPct val="110000"/>
              </a:lnSpc>
              <a:buNone/>
            </a:pPr>
            <a:r>
              <a:rPr lang="en-US" sz="1400" b="1" dirty="0">
                <a:solidFill>
                  <a:srgbClr val="121826"/>
                </a:solidFill>
                <a:latin typeface="Cambria" pitchFamily="34" charset="0"/>
                <a:ea typeface="Cambria" pitchFamily="34" charset="-122"/>
                <a:cs typeface="Cambria" pitchFamily="34" charset="-120"/>
              </a:rPr>
              <a:t>OS background scheduling</a:t>
            </a:r>
            <a:endParaRPr lang="en-US" sz="1400" dirty="0"/>
          </a:p>
        </p:txBody>
      </p:sp>
      <p:sp>
        <p:nvSpPr>
          <p:cNvPr id="20" name="Text 18"/>
          <p:cNvSpPr/>
          <p:nvPr/>
        </p:nvSpPr>
        <p:spPr>
          <a:xfrm>
            <a:off x="896112" y="493776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5B6478"/>
                </a:solidFill>
                <a:latin typeface="Calibri" pitchFamily="34" charset="0"/>
                <a:ea typeface="Calibri" pitchFamily="34" charset="-122"/>
                <a:cs typeface="Calibri" pitchFamily="34" charset="-120"/>
              </a:rPr>
              <a:t>Mobile OS power management can delay the 30-minute background sync; on-demand sync is the fallback, not a guarantee.</a:t>
            </a:r>
            <a:endParaRPr lang="en-US" sz="1250" dirty="0"/>
          </a:p>
        </p:txBody>
      </p:sp>
      <p:sp>
        <p:nvSpPr>
          <p:cNvPr id="21" name="Shape 19"/>
          <p:cNvSpPr/>
          <p:nvPr/>
        </p:nvSpPr>
        <p:spPr>
          <a:xfrm>
            <a:off x="6172200" y="4160520"/>
            <a:ext cx="5212080" cy="2103120"/>
          </a:xfrm>
          <a:prstGeom prst="roundRect">
            <a:avLst>
              <a:gd name="adj" fmla="val 5217"/>
            </a:avLst>
          </a:prstGeom>
          <a:solidFill>
            <a:srgbClr val="FFFFFF"/>
          </a:solidFill>
          <a:ln/>
          <a:effectLst>
            <a:outerShdw sx="100000" sy="100000" kx="0" ky="0" algn="bl" rotWithShape="0" blurRad="127000" dist="38100" dir="5400000">
              <a:srgbClr val="1B2850">
                <a:alpha val="18000"/>
              </a:srgbClr>
            </a:outerShdw>
          </a:effectLst>
        </p:spPr>
      </p:sp>
      <p:sp>
        <p:nvSpPr>
          <p:cNvPr id="22" name="Shape 20"/>
          <p:cNvSpPr/>
          <p:nvPr/>
        </p:nvSpPr>
        <p:spPr>
          <a:xfrm>
            <a:off x="6428232" y="4416552"/>
            <a:ext cx="512064" cy="512064"/>
          </a:xfrm>
          <a:prstGeom prst="ellipse">
            <a:avLst/>
          </a:prstGeom>
          <a:solidFill>
            <a:srgbClr val="FDEBEC"/>
          </a:solidFill>
          <a:ln/>
        </p:spPr>
      </p:sp>
      <p:sp>
        <p:nvSpPr>
          <p:cNvPr id="23" name="Shape 21"/>
          <p:cNvSpPr/>
          <p:nvPr/>
        </p:nvSpPr>
        <p:spPr>
          <a:xfrm>
            <a:off x="6556248" y="4544568"/>
            <a:ext cx="256032" cy="256032"/>
          </a:xfrm>
          <a:prstGeom prst="flowChartPreparation">
            <a:avLst/>
          </a:prstGeom>
          <a:solidFill>
            <a:srgbClr val="FF4D5E"/>
          </a:solidFill>
          <a:ln/>
        </p:spPr>
      </p:sp>
      <p:sp>
        <p:nvSpPr>
          <p:cNvPr id="24" name="Text 22"/>
          <p:cNvSpPr/>
          <p:nvPr/>
        </p:nvSpPr>
        <p:spPr>
          <a:xfrm>
            <a:off x="7104888" y="4398264"/>
            <a:ext cx="4023360" cy="548640"/>
          </a:xfrm>
          <a:prstGeom prst="rect">
            <a:avLst/>
          </a:prstGeom>
          <a:noFill/>
          <a:ln/>
        </p:spPr>
        <p:txBody>
          <a:bodyPr wrap="square" lIns="0" tIns="0" rIns="0" bIns="0" rtlCol="0" anchor="ctr"/>
          <a:lstStyle/>
          <a:p>
            <a:pPr indent="0" marL="0">
              <a:lnSpc>
                <a:spcPct val="110000"/>
              </a:lnSpc>
              <a:buNone/>
            </a:pPr>
            <a:r>
              <a:rPr lang="en-US" sz="1400" b="1" dirty="0">
                <a:solidFill>
                  <a:srgbClr val="121826"/>
                </a:solidFill>
                <a:latin typeface="Cambria" pitchFamily="34" charset="0"/>
                <a:ea typeface="Cambria" pitchFamily="34" charset="-122"/>
                <a:cs typeface="Cambria" pitchFamily="34" charset="-120"/>
              </a:rPr>
              <a:t>Doesn't address physical-layer jamming</a:t>
            </a:r>
            <a:endParaRPr lang="en-US" sz="1400" dirty="0"/>
          </a:p>
        </p:txBody>
      </p:sp>
      <p:sp>
        <p:nvSpPr>
          <p:cNvPr id="25" name="Text 23"/>
          <p:cNvSpPr/>
          <p:nvPr/>
        </p:nvSpPr>
        <p:spPr>
          <a:xfrm>
            <a:off x="6428232" y="4937760"/>
            <a:ext cx="4700016" cy="1143000"/>
          </a:xfrm>
          <a:prstGeom prst="rect">
            <a:avLst/>
          </a:prstGeom>
          <a:noFill/>
          <a:ln/>
        </p:spPr>
        <p:txBody>
          <a:bodyPr wrap="square" lIns="0" tIns="0" rIns="0" bIns="0" rtlCol="0" anchor="t"/>
          <a:lstStyle/>
          <a:p>
            <a:pPr indent="0" marL="0">
              <a:lnSpc>
                <a:spcPct val="140000"/>
              </a:lnSpc>
              <a:buNone/>
            </a:pPr>
            <a:r>
              <a:rPr lang="en-US" sz="1250" dirty="0">
                <a:solidFill>
                  <a:srgbClr val="5B6478"/>
                </a:solidFill>
                <a:latin typeface="Calibri" pitchFamily="34" charset="0"/>
                <a:ea typeface="Calibri" pitchFamily="34" charset="-122"/>
                <a:cs typeface="Calibri" pitchFamily="34" charset="-120"/>
              </a:rPr>
              <a:t>Isolation defeats protocol-level flooding, not RF jamming that doesn't rely on a valid session at all.</a:t>
            </a:r>
            <a:endParaRPr lang="en-US" sz="1250" dirty="0"/>
          </a:p>
        </p:txBody>
      </p:sp>
      <p:sp>
        <p:nvSpPr>
          <p:cNvPr id="26" name="Text 24"/>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5F6FC"/>
        </a:solidFill>
      </p:bgPr>
    </p:bg>
    <p:spTree>
      <p:nvGrpSpPr>
        <p:cNvPr id="1" name=""/>
        <p:cNvGrpSpPr/>
        <p:nvPr/>
      </p:nvGrpSpPr>
      <p:grpSpPr>
        <a:xfrm>
          <a:off x="0" y="0"/>
          <a:ext cx="0" cy="0"/>
          <a:chOff x="0" y="0"/>
          <a:chExt cx="0" cy="0"/>
        </a:xfrm>
      </p:grpSpPr>
      <p:sp>
        <p:nvSpPr>
          <p:cNvPr id="2" name="Shape 0"/>
          <p:cNvSpPr/>
          <p:nvPr/>
        </p:nvSpPr>
        <p:spPr>
          <a:xfrm>
            <a:off x="640080" y="521208"/>
            <a:ext cx="566928" cy="566928"/>
          </a:xfrm>
          <a:prstGeom prst="ellipse">
            <a:avLst/>
          </a:prstGeom>
          <a:solidFill>
            <a:srgbClr val="E7E9FB"/>
          </a:solidFill>
          <a:ln/>
        </p:spPr>
      </p:sp>
      <p:sp>
        <p:nvSpPr>
          <p:cNvPr id="3" name="Shape 1"/>
          <p:cNvSpPr/>
          <p:nvPr/>
        </p:nvSpPr>
        <p:spPr>
          <a:xfrm>
            <a:off x="781812" y="662940"/>
            <a:ext cx="283464" cy="283464"/>
          </a:xfrm>
          <a:prstGeom prst="cube">
            <a:avLst/>
          </a:prstGeom>
          <a:solidFill>
            <a:srgbClr val="5C63B8"/>
          </a:solidFill>
          <a:ln/>
        </p:spPr>
      </p:sp>
      <p:sp>
        <p:nvSpPr>
          <p:cNvPr id="4" name="Text 2"/>
          <p:cNvSpPr/>
          <p:nvPr/>
        </p:nvSpPr>
        <p:spPr>
          <a:xfrm>
            <a:off x="1389888" y="448056"/>
            <a:ext cx="5486400" cy="292608"/>
          </a:xfrm>
          <a:prstGeom prst="rect">
            <a:avLst/>
          </a:prstGeom>
          <a:noFill/>
          <a:ln/>
        </p:spPr>
        <p:txBody>
          <a:bodyPr wrap="square" lIns="0" tIns="0" rIns="0" bIns="0" rtlCol="0" anchor="ctr"/>
          <a:lstStyle/>
          <a:p>
            <a:pPr algn="l" indent="0" marL="0">
              <a:buNone/>
            </a:pPr>
            <a:r>
              <a:rPr lang="en-US" sz="1200" b="1" spc="300" kern="0" dirty="0">
                <a:solidFill>
                  <a:srgbClr val="5C63B8"/>
                </a:solidFill>
                <a:latin typeface="Calibri" pitchFamily="34" charset="0"/>
                <a:ea typeface="Calibri" pitchFamily="34" charset="-122"/>
                <a:cs typeface="Calibri" pitchFamily="34" charset="-120"/>
              </a:rPr>
              <a:t>WHAT'S NEXT</a:t>
            </a:r>
            <a:endParaRPr lang="en-US" sz="1200" dirty="0"/>
          </a:p>
        </p:txBody>
      </p:sp>
      <p:sp>
        <p:nvSpPr>
          <p:cNvPr id="5" name="Text 3"/>
          <p:cNvSpPr/>
          <p:nvPr/>
        </p:nvSpPr>
        <p:spPr>
          <a:xfrm>
            <a:off x="1389888" y="685800"/>
            <a:ext cx="10253167" cy="548640"/>
          </a:xfrm>
          <a:prstGeom prst="rect">
            <a:avLst/>
          </a:prstGeom>
          <a:noFill/>
          <a:ln/>
        </p:spPr>
        <p:txBody>
          <a:bodyPr wrap="square" lIns="0" tIns="0" rIns="0" bIns="0" rtlCol="0" anchor="ctr"/>
          <a:lstStyle/>
          <a:p>
            <a:pPr algn="l" indent="0" marL="0">
              <a:buNone/>
            </a:pPr>
            <a:r>
              <a:rPr lang="en-US" sz="3000" b="1" dirty="0">
                <a:solidFill>
                  <a:srgbClr val="121826"/>
                </a:solidFill>
                <a:latin typeface="Cambria" pitchFamily="34" charset="0"/>
                <a:ea typeface="Cambria" pitchFamily="34" charset="-122"/>
                <a:cs typeface="Cambria" pitchFamily="34" charset="-120"/>
              </a:rPr>
              <a:t>Future Scope</a:t>
            </a:r>
            <a:endParaRPr lang="en-US" sz="3000" dirty="0"/>
          </a:p>
        </p:txBody>
      </p:sp>
      <p:sp>
        <p:nvSpPr>
          <p:cNvPr id="6" name="Shape 4"/>
          <p:cNvSpPr/>
          <p:nvPr/>
        </p:nvSpPr>
        <p:spPr>
          <a:xfrm>
            <a:off x="64008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7" name="Text 5"/>
          <p:cNvSpPr/>
          <p:nvPr/>
        </p:nvSpPr>
        <p:spPr>
          <a:xfrm>
            <a:off x="822960" y="1984248"/>
            <a:ext cx="1097280" cy="502920"/>
          </a:xfrm>
          <a:prstGeom prst="rect">
            <a:avLst/>
          </a:prstGeom>
          <a:noFill/>
          <a:ln/>
        </p:spPr>
        <p:txBody>
          <a:bodyPr wrap="square" lIns="0" tIns="0" rIns="0" bIns="0" rtlCol="0" anchor="ctr"/>
          <a:lstStyle/>
          <a:p>
            <a:pPr indent="0" marL="0">
              <a:buNone/>
            </a:pPr>
            <a:r>
              <a:rPr lang="en-US" sz="2200" b="1" dirty="0">
                <a:solidFill>
                  <a:srgbClr val="D8DBEF"/>
                </a:solidFill>
                <a:latin typeface="Cambria" pitchFamily="34" charset="0"/>
                <a:ea typeface="Cambria" pitchFamily="34" charset="-122"/>
                <a:cs typeface="Cambria" pitchFamily="34" charset="-120"/>
              </a:rPr>
              <a:t>01</a:t>
            </a:r>
            <a:endParaRPr lang="en-US" sz="2200" dirty="0"/>
          </a:p>
        </p:txBody>
      </p:sp>
      <p:sp>
        <p:nvSpPr>
          <p:cNvPr id="8" name="Text 6"/>
          <p:cNvSpPr/>
          <p:nvPr/>
        </p:nvSpPr>
        <p:spPr>
          <a:xfrm>
            <a:off x="822960" y="2560320"/>
            <a:ext cx="2240280" cy="685800"/>
          </a:xfrm>
          <a:prstGeom prst="rect">
            <a:avLst/>
          </a:prstGeom>
          <a:noFill/>
          <a:ln/>
        </p:spPr>
        <p:txBody>
          <a:bodyPr wrap="square" lIns="0" tIns="0" rIns="0" bIns="0" rtlCol="0" anchor="ctr"/>
          <a:lstStyle/>
          <a:p>
            <a:pPr indent="0" marL="0">
              <a:lnSpc>
                <a:spcPct val="115000"/>
              </a:lnSpc>
              <a:buNone/>
            </a:pPr>
            <a:r>
              <a:rPr lang="en-US" sz="1350" b="1" dirty="0">
                <a:solidFill>
                  <a:srgbClr val="121826"/>
                </a:solidFill>
                <a:latin typeface="Cambria" pitchFamily="34" charset="0"/>
                <a:ea typeface="Cambria" pitchFamily="34" charset="-122"/>
                <a:cs typeface="Cambria" pitchFamily="34" charset="-120"/>
              </a:rPr>
              <a:t>Real BLE hardware</a:t>
            </a:r>
            <a:endParaRPr lang="en-US" sz="1350" dirty="0"/>
          </a:p>
        </p:txBody>
      </p:sp>
      <p:sp>
        <p:nvSpPr>
          <p:cNvPr id="9" name="Text 7"/>
          <p:cNvSpPr/>
          <p:nvPr/>
        </p:nvSpPr>
        <p:spPr>
          <a:xfrm>
            <a:off x="822960" y="3246120"/>
            <a:ext cx="2240280" cy="2103120"/>
          </a:xfrm>
          <a:prstGeom prst="rect">
            <a:avLst/>
          </a:prstGeom>
          <a:noFill/>
          <a:ln/>
        </p:spPr>
        <p:txBody>
          <a:bodyPr wrap="square" lIns="0" tIns="0" rIns="0" bIns="0" rtlCol="0" anchor="ctr"/>
          <a:lstStyle/>
          <a:p>
            <a:pPr indent="0" marL="0">
              <a:lnSpc>
                <a:spcPct val="130000"/>
              </a:lnSpc>
              <a:buNone/>
            </a:pPr>
            <a:r>
              <a:rPr lang="en-US" sz="1050" dirty="0">
                <a:solidFill>
                  <a:srgbClr val="5B6478"/>
                </a:solidFill>
                <a:latin typeface="Calibri" pitchFamily="34" charset="0"/>
                <a:ea typeface="Calibri" pitchFamily="34" charset="-122"/>
                <a:cs typeface="Calibri" pitchFamily="34" charset="-120"/>
              </a:rPr>
              <a:t>Swap in the existing BlePacemaker implementation against an ESP32 flashed as a GATT peripheral — no app-layer changes needed.</a:t>
            </a:r>
            <a:endParaRPr lang="en-US" sz="1050" dirty="0"/>
          </a:p>
        </p:txBody>
      </p:sp>
      <p:sp>
        <p:nvSpPr>
          <p:cNvPr id="10" name="Shape 8"/>
          <p:cNvSpPr/>
          <p:nvPr/>
        </p:nvSpPr>
        <p:spPr>
          <a:xfrm>
            <a:off x="342900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11" name="Text 9"/>
          <p:cNvSpPr/>
          <p:nvPr/>
        </p:nvSpPr>
        <p:spPr>
          <a:xfrm>
            <a:off x="3611880" y="1984248"/>
            <a:ext cx="1097280" cy="502920"/>
          </a:xfrm>
          <a:prstGeom prst="rect">
            <a:avLst/>
          </a:prstGeom>
          <a:noFill/>
          <a:ln/>
        </p:spPr>
        <p:txBody>
          <a:bodyPr wrap="square" lIns="0" tIns="0" rIns="0" bIns="0" rtlCol="0" anchor="ctr"/>
          <a:lstStyle/>
          <a:p>
            <a:pPr indent="0" marL="0">
              <a:buNone/>
            </a:pPr>
            <a:r>
              <a:rPr lang="en-US" sz="2200" b="1" dirty="0">
                <a:solidFill>
                  <a:srgbClr val="D8DBEF"/>
                </a:solidFill>
                <a:latin typeface="Cambria" pitchFamily="34" charset="0"/>
                <a:ea typeface="Cambria" pitchFamily="34" charset="-122"/>
                <a:cs typeface="Cambria" pitchFamily="34" charset="-120"/>
              </a:rPr>
              <a:t>02</a:t>
            </a:r>
            <a:endParaRPr lang="en-US" sz="2200" dirty="0"/>
          </a:p>
        </p:txBody>
      </p:sp>
      <p:sp>
        <p:nvSpPr>
          <p:cNvPr id="12" name="Text 10"/>
          <p:cNvSpPr/>
          <p:nvPr/>
        </p:nvSpPr>
        <p:spPr>
          <a:xfrm>
            <a:off x="3611880" y="2560320"/>
            <a:ext cx="2240280" cy="685800"/>
          </a:xfrm>
          <a:prstGeom prst="rect">
            <a:avLst/>
          </a:prstGeom>
          <a:noFill/>
          <a:ln/>
        </p:spPr>
        <p:txBody>
          <a:bodyPr wrap="square" lIns="0" tIns="0" rIns="0" bIns="0" rtlCol="0" anchor="ctr"/>
          <a:lstStyle/>
          <a:p>
            <a:pPr indent="0" marL="0">
              <a:lnSpc>
                <a:spcPct val="115000"/>
              </a:lnSpc>
              <a:buNone/>
            </a:pPr>
            <a:r>
              <a:rPr lang="en-US" sz="1350" b="1" dirty="0">
                <a:solidFill>
                  <a:srgbClr val="121826"/>
                </a:solidFill>
                <a:latin typeface="Cambria" pitchFamily="34" charset="0"/>
                <a:ea typeface="Cambria" pitchFamily="34" charset="-122"/>
                <a:cs typeface="Cambria" pitchFamily="34" charset="-120"/>
              </a:rPr>
              <a:t>Measure the attack window</a:t>
            </a:r>
            <a:endParaRPr lang="en-US" sz="1350" dirty="0"/>
          </a:p>
        </p:txBody>
      </p:sp>
      <p:sp>
        <p:nvSpPr>
          <p:cNvPr id="13" name="Text 11"/>
          <p:cNvSpPr/>
          <p:nvPr/>
        </p:nvSpPr>
        <p:spPr>
          <a:xfrm>
            <a:off x="3611880" y="3246120"/>
            <a:ext cx="2240280" cy="2103120"/>
          </a:xfrm>
          <a:prstGeom prst="rect">
            <a:avLst/>
          </a:prstGeom>
          <a:noFill/>
          <a:ln/>
        </p:spPr>
        <p:txBody>
          <a:bodyPr wrap="square" lIns="0" tIns="0" rIns="0" bIns="0" rtlCol="0" anchor="ctr"/>
          <a:lstStyle/>
          <a:p>
            <a:pPr indent="0" marL="0">
              <a:lnSpc>
                <a:spcPct val="130000"/>
              </a:lnSpc>
              <a:buNone/>
            </a:pPr>
            <a:r>
              <a:rPr lang="en-US" sz="1050" dirty="0">
                <a:solidFill>
                  <a:srgbClr val="5B6478"/>
                </a:solidFill>
                <a:latin typeface="Calibri" pitchFamily="34" charset="0"/>
                <a:ea typeface="Calibri" pitchFamily="34" charset="-122"/>
                <a:cs typeface="Calibri" pitchFamily="34" charset="-120"/>
              </a:rPr>
              <a:t>Instrument real radio timing to quantify the reduction in exposure versus a naive always-on link.</a:t>
            </a:r>
            <a:endParaRPr lang="en-US" sz="1050" dirty="0"/>
          </a:p>
        </p:txBody>
      </p:sp>
      <p:sp>
        <p:nvSpPr>
          <p:cNvPr id="14" name="Shape 12"/>
          <p:cNvSpPr/>
          <p:nvPr/>
        </p:nvSpPr>
        <p:spPr>
          <a:xfrm>
            <a:off x="621792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15" name="Text 13"/>
          <p:cNvSpPr/>
          <p:nvPr/>
        </p:nvSpPr>
        <p:spPr>
          <a:xfrm>
            <a:off x="6400800" y="1984248"/>
            <a:ext cx="1097280" cy="502920"/>
          </a:xfrm>
          <a:prstGeom prst="rect">
            <a:avLst/>
          </a:prstGeom>
          <a:noFill/>
          <a:ln/>
        </p:spPr>
        <p:txBody>
          <a:bodyPr wrap="square" lIns="0" tIns="0" rIns="0" bIns="0" rtlCol="0" anchor="ctr"/>
          <a:lstStyle/>
          <a:p>
            <a:pPr indent="0" marL="0">
              <a:buNone/>
            </a:pPr>
            <a:r>
              <a:rPr lang="en-US" sz="2200" b="1" dirty="0">
                <a:solidFill>
                  <a:srgbClr val="D8DBEF"/>
                </a:solidFill>
                <a:latin typeface="Cambria" pitchFamily="34" charset="0"/>
                <a:ea typeface="Cambria" pitchFamily="34" charset="-122"/>
                <a:cs typeface="Cambria" pitchFamily="34" charset="-120"/>
              </a:rPr>
              <a:t>03</a:t>
            </a:r>
            <a:endParaRPr lang="en-US" sz="2200" dirty="0"/>
          </a:p>
        </p:txBody>
      </p:sp>
      <p:sp>
        <p:nvSpPr>
          <p:cNvPr id="16" name="Text 14"/>
          <p:cNvSpPr/>
          <p:nvPr/>
        </p:nvSpPr>
        <p:spPr>
          <a:xfrm>
            <a:off x="6400800" y="2560320"/>
            <a:ext cx="2240280" cy="685800"/>
          </a:xfrm>
          <a:prstGeom prst="rect">
            <a:avLst/>
          </a:prstGeom>
          <a:noFill/>
          <a:ln/>
        </p:spPr>
        <p:txBody>
          <a:bodyPr wrap="square" lIns="0" tIns="0" rIns="0" bIns="0" rtlCol="0" anchor="ctr"/>
          <a:lstStyle/>
          <a:p>
            <a:pPr indent="0" marL="0">
              <a:lnSpc>
                <a:spcPct val="115000"/>
              </a:lnSpc>
              <a:buNone/>
            </a:pPr>
            <a:r>
              <a:rPr lang="en-US" sz="1350" b="1" dirty="0">
                <a:solidFill>
                  <a:srgbClr val="121826"/>
                </a:solidFill>
                <a:latin typeface="Cambria" pitchFamily="34" charset="0"/>
                <a:ea typeface="Cambria" pitchFamily="34" charset="-122"/>
                <a:cs typeface="Cambria" pitchFamily="34" charset="-120"/>
              </a:rPr>
              <a:t>Signed voltage instructions</a:t>
            </a:r>
            <a:endParaRPr lang="en-US" sz="1350" dirty="0"/>
          </a:p>
        </p:txBody>
      </p:sp>
      <p:sp>
        <p:nvSpPr>
          <p:cNvPr id="17" name="Text 15"/>
          <p:cNvSpPr/>
          <p:nvPr/>
        </p:nvSpPr>
        <p:spPr>
          <a:xfrm>
            <a:off x="6400800" y="3246120"/>
            <a:ext cx="2240280" cy="2103120"/>
          </a:xfrm>
          <a:prstGeom prst="rect">
            <a:avLst/>
          </a:prstGeom>
          <a:noFill/>
          <a:ln/>
        </p:spPr>
        <p:txBody>
          <a:bodyPr wrap="square" lIns="0" tIns="0" rIns="0" bIns="0" rtlCol="0" anchor="ctr"/>
          <a:lstStyle/>
          <a:p>
            <a:pPr indent="0" marL="0">
              <a:lnSpc>
                <a:spcPct val="130000"/>
              </a:lnSpc>
              <a:buNone/>
            </a:pPr>
            <a:r>
              <a:rPr lang="en-US" sz="1050" dirty="0">
                <a:solidFill>
                  <a:srgbClr val="5B6478"/>
                </a:solidFill>
                <a:latin typeface="Calibri" pitchFamily="34" charset="0"/>
                <a:ea typeface="Calibri" pitchFamily="34" charset="-122"/>
                <a:cs typeface="Calibri" pitchFamily="34" charset="-120"/>
              </a:rPr>
              <a:t>Add a signature the phone can verify before writing, so a compromised server can't silently push an unsafe value.</a:t>
            </a:r>
            <a:endParaRPr lang="en-US" sz="1050" dirty="0"/>
          </a:p>
        </p:txBody>
      </p:sp>
      <p:sp>
        <p:nvSpPr>
          <p:cNvPr id="18" name="Shape 16"/>
          <p:cNvSpPr/>
          <p:nvPr/>
        </p:nvSpPr>
        <p:spPr>
          <a:xfrm>
            <a:off x="9006840" y="1783080"/>
            <a:ext cx="2606040" cy="3749040"/>
          </a:xfrm>
          <a:prstGeom prst="roundRect">
            <a:avLst>
              <a:gd name="adj" fmla="val 4211"/>
            </a:avLst>
          </a:prstGeom>
          <a:solidFill>
            <a:srgbClr val="FFFFFF"/>
          </a:solidFill>
          <a:ln/>
          <a:effectLst>
            <a:outerShdw sx="100000" sy="100000" kx="0" ky="0" algn="bl" rotWithShape="0" blurRad="127000" dist="38100" dir="5400000">
              <a:srgbClr val="1B2850">
                <a:alpha val="18000"/>
              </a:srgbClr>
            </a:outerShdw>
          </a:effectLst>
        </p:spPr>
      </p:sp>
      <p:sp>
        <p:nvSpPr>
          <p:cNvPr id="19" name="Text 17"/>
          <p:cNvSpPr/>
          <p:nvPr/>
        </p:nvSpPr>
        <p:spPr>
          <a:xfrm>
            <a:off x="9189720" y="1984248"/>
            <a:ext cx="1097280" cy="502920"/>
          </a:xfrm>
          <a:prstGeom prst="rect">
            <a:avLst/>
          </a:prstGeom>
          <a:noFill/>
          <a:ln/>
        </p:spPr>
        <p:txBody>
          <a:bodyPr wrap="square" lIns="0" tIns="0" rIns="0" bIns="0" rtlCol="0" anchor="ctr"/>
          <a:lstStyle/>
          <a:p>
            <a:pPr indent="0" marL="0">
              <a:buNone/>
            </a:pPr>
            <a:r>
              <a:rPr lang="en-US" sz="2200" b="1" dirty="0">
                <a:solidFill>
                  <a:srgbClr val="D8DBEF"/>
                </a:solidFill>
                <a:latin typeface="Cambria" pitchFamily="34" charset="0"/>
                <a:ea typeface="Cambria" pitchFamily="34" charset="-122"/>
                <a:cs typeface="Cambria" pitchFamily="34" charset="-120"/>
              </a:rPr>
              <a:t>04</a:t>
            </a:r>
            <a:endParaRPr lang="en-US" sz="2200" dirty="0"/>
          </a:p>
        </p:txBody>
      </p:sp>
      <p:sp>
        <p:nvSpPr>
          <p:cNvPr id="20" name="Text 18"/>
          <p:cNvSpPr/>
          <p:nvPr/>
        </p:nvSpPr>
        <p:spPr>
          <a:xfrm>
            <a:off x="9189720" y="2560320"/>
            <a:ext cx="2240280" cy="685800"/>
          </a:xfrm>
          <a:prstGeom prst="rect">
            <a:avLst/>
          </a:prstGeom>
          <a:noFill/>
          <a:ln/>
        </p:spPr>
        <p:txBody>
          <a:bodyPr wrap="square" lIns="0" tIns="0" rIns="0" bIns="0" rtlCol="0" anchor="ctr"/>
          <a:lstStyle/>
          <a:p>
            <a:pPr indent="0" marL="0">
              <a:lnSpc>
                <a:spcPct val="115000"/>
              </a:lnSpc>
              <a:buNone/>
            </a:pPr>
            <a:r>
              <a:rPr lang="en-US" sz="1350" b="1" dirty="0">
                <a:solidFill>
                  <a:srgbClr val="121826"/>
                </a:solidFill>
                <a:latin typeface="Cambria" pitchFamily="34" charset="0"/>
                <a:ea typeface="Cambria" pitchFamily="34" charset="-122"/>
                <a:cs typeface="Cambria" pitchFamily="34" charset="-120"/>
              </a:rPr>
              <a:t>Anomaly detection on sync cadence</a:t>
            </a:r>
            <a:endParaRPr lang="en-US" sz="1350" dirty="0"/>
          </a:p>
        </p:txBody>
      </p:sp>
      <p:sp>
        <p:nvSpPr>
          <p:cNvPr id="21" name="Text 19"/>
          <p:cNvSpPr/>
          <p:nvPr/>
        </p:nvSpPr>
        <p:spPr>
          <a:xfrm>
            <a:off x="9189720" y="3246120"/>
            <a:ext cx="2240280" cy="2103120"/>
          </a:xfrm>
          <a:prstGeom prst="rect">
            <a:avLst/>
          </a:prstGeom>
          <a:noFill/>
          <a:ln/>
        </p:spPr>
        <p:txBody>
          <a:bodyPr wrap="square" lIns="0" tIns="0" rIns="0" bIns="0" rtlCol="0" anchor="ctr"/>
          <a:lstStyle/>
          <a:p>
            <a:pPr indent="0" marL="0">
              <a:lnSpc>
                <a:spcPct val="130000"/>
              </a:lnSpc>
              <a:buNone/>
            </a:pPr>
            <a:r>
              <a:rPr lang="en-US" sz="1050" dirty="0">
                <a:solidFill>
                  <a:srgbClr val="5B6478"/>
                </a:solidFill>
                <a:latin typeface="Calibri" pitchFamily="34" charset="0"/>
                <a:ea typeface="Calibri" pitchFamily="34" charset="-122"/>
                <a:cs typeface="Calibri" pitchFamily="34" charset="-120"/>
              </a:rPr>
              <a:t>Flag sync attempts that deviate from the 30-minute pattern as a possible depletion attempt in progress.</a:t>
            </a:r>
            <a:endParaRPr lang="en-US" sz="1050" dirty="0"/>
          </a:p>
        </p:txBody>
      </p:sp>
      <p:sp>
        <p:nvSpPr>
          <p:cNvPr id="22" name="Text 20"/>
          <p:cNvSpPr/>
          <p:nvPr/>
        </p:nvSpPr>
        <p:spPr>
          <a:xfrm>
            <a:off x="11368735" y="6400800"/>
            <a:ext cx="548640"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224"/>
        </a:solidFill>
      </p:bgPr>
    </p:bg>
    <p:spTree>
      <p:nvGrpSpPr>
        <p:cNvPr id="1" name=""/>
        <p:cNvGrpSpPr/>
        <p:nvPr/>
      </p:nvGrpSpPr>
      <p:grpSpPr>
        <a:xfrm>
          <a:off x="0" y="0"/>
          <a:ext cx="0" cy="0"/>
          <a:chOff x="0" y="0"/>
          <a:chExt cx="0" cy="0"/>
        </a:xfrm>
      </p:grpSpPr>
      <p:sp>
        <p:nvSpPr>
          <p:cNvPr id="2" name="Shape 0"/>
          <p:cNvSpPr/>
          <p:nvPr/>
        </p:nvSpPr>
        <p:spPr>
          <a:xfrm>
            <a:off x="5684368" y="1920240"/>
            <a:ext cx="822960" cy="822960"/>
          </a:xfrm>
          <a:prstGeom prst="ellipse">
            <a:avLst/>
          </a:prstGeom>
          <a:solidFill>
            <a:srgbClr val="141F3D"/>
          </a:solidFill>
          <a:ln/>
        </p:spPr>
      </p:sp>
      <p:sp>
        <p:nvSpPr>
          <p:cNvPr id="3" name="Shape 1"/>
          <p:cNvSpPr/>
          <p:nvPr/>
        </p:nvSpPr>
        <p:spPr>
          <a:xfrm>
            <a:off x="5881878" y="2117750"/>
            <a:ext cx="427939" cy="427939"/>
          </a:xfrm>
          <a:prstGeom prst="heart">
            <a:avLst/>
          </a:prstGeom>
          <a:solidFill>
            <a:srgbClr val="FF4D5E"/>
          </a:solidFill>
          <a:ln/>
        </p:spPr>
      </p:sp>
      <p:sp>
        <p:nvSpPr>
          <p:cNvPr id="4" name="Text 2"/>
          <p:cNvSpPr/>
          <p:nvPr/>
        </p:nvSpPr>
        <p:spPr>
          <a:xfrm>
            <a:off x="0" y="2971800"/>
            <a:ext cx="12191695" cy="822960"/>
          </a:xfrm>
          <a:prstGeom prst="rect">
            <a:avLst/>
          </a:prstGeom>
          <a:noFill/>
          <a:ln/>
        </p:spPr>
        <p:txBody>
          <a:bodyPr wrap="square" lIns="0" tIns="0" rIns="0" bIns="0" rtlCol="0" anchor="ctr"/>
          <a:lstStyle/>
          <a:p>
            <a:pPr algn="ctr" indent="0" marL="0">
              <a:buNone/>
            </a:pPr>
            <a:r>
              <a:rPr lang="en-US" sz="4000" b="1" dirty="0">
                <a:solidFill>
                  <a:srgbClr val="F5F6FC"/>
                </a:solidFill>
                <a:latin typeface="Cambria" pitchFamily="34" charset="0"/>
                <a:ea typeface="Cambria" pitchFamily="34" charset="-122"/>
                <a:cs typeface="Cambria" pitchFamily="34" charset="-120"/>
              </a:rPr>
              <a:t>Thank You</a:t>
            </a:r>
            <a:endParaRPr lang="en-US" sz="4000" dirty="0"/>
          </a:p>
        </p:txBody>
      </p:sp>
      <p:sp>
        <p:nvSpPr>
          <p:cNvPr id="5" name="Text 3"/>
          <p:cNvSpPr/>
          <p:nvPr/>
        </p:nvSpPr>
        <p:spPr>
          <a:xfrm>
            <a:off x="1981048" y="3794760"/>
            <a:ext cx="8229600" cy="457200"/>
          </a:xfrm>
          <a:prstGeom prst="rect">
            <a:avLst/>
          </a:prstGeom>
          <a:noFill/>
          <a:ln/>
        </p:spPr>
        <p:txBody>
          <a:bodyPr wrap="square" lIns="0" tIns="0" rIns="0" bIns="0" rtlCol="0" anchor="ctr"/>
          <a:lstStyle/>
          <a:p>
            <a:pPr algn="ctr" indent="0" marL="0">
              <a:buNone/>
            </a:pPr>
            <a:r>
              <a:rPr lang="en-US" sz="1400" dirty="0">
                <a:solidFill>
                  <a:srgbClr val="9AA3C7"/>
                </a:solidFill>
                <a:latin typeface="Calibri" pitchFamily="34" charset="0"/>
                <a:ea typeface="Calibri" pitchFamily="34" charset="-122"/>
                <a:cs typeface="Calibri" pitchFamily="34" charset="-120"/>
              </a:rPr>
              <a:t>Questions on the isolation architecture, the sync protocol, or the threat model are welcome.</a:t>
            </a:r>
            <a:endParaRPr lang="en-US" sz="1400" dirty="0"/>
          </a:p>
        </p:txBody>
      </p:sp>
      <p:sp>
        <p:nvSpPr>
          <p:cNvPr id="6" name="Shape 4"/>
          <p:cNvSpPr/>
          <p:nvPr/>
        </p:nvSpPr>
        <p:spPr>
          <a:xfrm>
            <a:off x="3718408" y="4663440"/>
            <a:ext cx="4754880" cy="457200"/>
          </a:xfrm>
          <a:prstGeom prst="roundRect">
            <a:avLst>
              <a:gd name="adj" fmla="val 16000"/>
            </a:avLst>
          </a:prstGeom>
          <a:solidFill>
            <a:srgbClr val="141F3D"/>
          </a:solidFill>
          <a:ln/>
        </p:spPr>
      </p:sp>
      <p:sp>
        <p:nvSpPr>
          <p:cNvPr id="7" name="Text 5"/>
          <p:cNvSpPr/>
          <p:nvPr/>
        </p:nvSpPr>
        <p:spPr>
          <a:xfrm>
            <a:off x="3718408" y="4663440"/>
            <a:ext cx="4754880" cy="457200"/>
          </a:xfrm>
          <a:prstGeom prst="rect">
            <a:avLst/>
          </a:prstGeom>
          <a:noFill/>
          <a:ln/>
        </p:spPr>
        <p:txBody>
          <a:bodyPr wrap="square" lIns="0" tIns="0" rIns="0" bIns="0" rtlCol="0" anchor="ctr"/>
          <a:lstStyle/>
          <a:p>
            <a:pPr algn="ctr" indent="0" marL="0">
              <a:buNone/>
            </a:pPr>
            <a:r>
              <a:rPr lang="en-US" sz="1100" dirty="0">
                <a:solidFill>
                  <a:srgbClr val="C3C8FC"/>
                </a:solidFill>
                <a:latin typeface="Calibri" pitchFamily="34" charset="0"/>
                <a:ea typeface="Calibri" pitchFamily="34" charset="-122"/>
                <a:cs typeface="Calibri" pitchFamily="34" charset="-120"/>
              </a:rPr>
              <a:t>PaceLink  •  Energy Depletion Attack Defense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2026-07-23T05:28:43Z</dcterms:created>
  <dcterms:modified xsi:type="dcterms:W3CDTF">2026-07-23T05:28:43Z</dcterms:modified>
</cp:coreProperties>
</file>